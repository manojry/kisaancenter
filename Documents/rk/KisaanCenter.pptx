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1" r:id="rId2"/>
    <p:sldId id="2581" r:id="rId3"/>
    <p:sldId id="2582" r:id="rId4"/>
    <p:sldId id="2580"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saanCenter: Addressing Real-World Market Challenges in India’s Agricultural Ecosystem" id="{7ABDF84B-86E7-456B-89D3-E689166285A8}">
          <p14:sldIdLst>
            <p14:sldId id="2561"/>
            <p14:sldId id="2581"/>
            <p14:sldId id="2582"/>
            <p14:sldId id="2580"/>
            <p14:sldId id="2562"/>
          </p14:sldIdLst>
        </p14:section>
        <p14:section name="Understanding the Traditional Market Payment System" id="{1FEEA77C-2AE8-4A76-9D60-A163CCBD8FC4}">
          <p14:sldIdLst>
            <p14:sldId id="2563"/>
            <p14:sldId id="2564"/>
            <p14:sldId id="2565"/>
            <p14:sldId id="2566"/>
          </p14:sldIdLst>
        </p14:section>
        <p14:section name="Key Pain Points Faced by Market Participants" id="{196F9FD3-0646-4782-BA2C-016975B502A3}">
          <p14:sldIdLst>
            <p14:sldId id="2567"/>
            <p14:sldId id="2568"/>
            <p14:sldId id="2569"/>
            <p14:sldId id="2570"/>
          </p14:sldIdLst>
        </p14:section>
        <p14:section name="Challenges During Peak Seasons and Festivals" id="{03DE9FE6-B5AA-4258-AD97-7E32DEDED62A}">
          <p14:sldIdLst>
            <p14:sldId id="2571"/>
            <p14:sldId id="2572"/>
            <p14:sldId id="2573"/>
            <p14:sldId id="2574"/>
          </p14:sldIdLst>
        </p14:section>
        <p14:section name="How KisaanCenter Provides Solutions" id="{C19C136D-CB1C-4D87-A997-72D83932917E}">
          <p14:sldIdLst>
            <p14:sldId id="2575"/>
            <p14:sldId id="2576"/>
            <p14:sldId id="2577"/>
            <p14:sldId id="2578"/>
          </p14:sldIdLst>
        </p14:section>
        <p14:section name="Conclusion" id="{72C5269A-AB70-4AB7-8A26-FE1010FD4F9C}">
          <p14:sldIdLst>
            <p14:sldId id="25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256" y="26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037E0F-963B-4C6E-AEBC-F27DA0F6139A}"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de-DE"/>
        </a:p>
      </dgm:t>
    </dgm:pt>
    <dgm:pt modelId="{96375E9A-B759-4C9C-97C9-31BF2DA78281}">
      <dgm:prSet/>
      <dgm:spPr/>
      <dgm:t>
        <a:bodyPr/>
        <a:lstStyle/>
        <a:p>
          <a:pPr>
            <a:lnSpc>
              <a:spcPct val="100000"/>
            </a:lnSpc>
            <a:defRPr b="1"/>
          </a:pPr>
          <a:r>
            <a:rPr lang="de-DE"/>
            <a:t>Surge in Transaction Volume</a:t>
          </a:r>
        </a:p>
      </dgm:t>
    </dgm:pt>
    <dgm:pt modelId="{49BAB5D0-D014-409A-8225-7CE00A1C8A60}" type="parTrans" cxnId="{DDE5A578-7EA8-440F-ACAC-6EEF67F2FAE0}">
      <dgm:prSet/>
      <dgm:spPr/>
      <dgm:t>
        <a:bodyPr/>
        <a:lstStyle/>
        <a:p>
          <a:endParaRPr lang="de-DE"/>
        </a:p>
      </dgm:t>
    </dgm:pt>
    <dgm:pt modelId="{8EBFA95F-987E-422A-9D3D-2F7270B3B436}" type="sibTrans" cxnId="{DDE5A578-7EA8-440F-ACAC-6EEF67F2FAE0}">
      <dgm:prSet/>
      <dgm:spPr/>
      <dgm:t>
        <a:bodyPr/>
        <a:lstStyle/>
        <a:p>
          <a:pPr>
            <a:lnSpc>
              <a:spcPct val="100000"/>
            </a:lnSpc>
            <a:defRPr b="1"/>
          </a:pPr>
          <a:endParaRPr lang="de-DE"/>
        </a:p>
      </dgm:t>
    </dgm:pt>
    <dgm:pt modelId="{F6CCD7BF-AC00-4D17-BB8F-9FE9CA7332C7}">
      <dgm:prSet/>
      <dgm:spPr/>
      <dgm:t>
        <a:bodyPr/>
        <a:lstStyle/>
        <a:p>
          <a:pPr>
            <a:lnSpc>
              <a:spcPct val="100000"/>
            </a:lnSpc>
          </a:pPr>
          <a:r>
            <a:rPr lang="de-DE"/>
            <a:t>Peak periods cause a sharp rise in transaction numbers, increasing processing demands significantly.</a:t>
          </a:r>
        </a:p>
      </dgm:t>
    </dgm:pt>
    <dgm:pt modelId="{CF56824C-E20E-4D13-85B4-5AE796F4E550}" type="parTrans" cxnId="{28D87C76-4BB3-431A-BF87-92FB8EDB7944}">
      <dgm:prSet/>
      <dgm:spPr/>
      <dgm:t>
        <a:bodyPr/>
        <a:lstStyle/>
        <a:p>
          <a:endParaRPr lang="de-DE"/>
        </a:p>
      </dgm:t>
    </dgm:pt>
    <dgm:pt modelId="{3E65AB59-6D34-4C97-849D-B6F121499B1A}" type="sibTrans" cxnId="{28D87C76-4BB3-431A-BF87-92FB8EDB7944}">
      <dgm:prSet/>
      <dgm:spPr/>
      <dgm:t>
        <a:bodyPr/>
        <a:lstStyle/>
        <a:p>
          <a:endParaRPr lang="de-DE"/>
        </a:p>
      </dgm:t>
    </dgm:pt>
    <dgm:pt modelId="{B8FA5F6A-03A7-4BD1-8AE8-98BF80A1DA02}">
      <dgm:prSet/>
      <dgm:spPr/>
      <dgm:t>
        <a:bodyPr/>
        <a:lstStyle/>
        <a:p>
          <a:pPr>
            <a:lnSpc>
              <a:spcPct val="100000"/>
            </a:lnSpc>
            <a:defRPr b="1"/>
          </a:pPr>
          <a:r>
            <a:rPr lang="de-DE"/>
            <a:t>Complex Payment Tracking</a:t>
          </a:r>
        </a:p>
      </dgm:t>
    </dgm:pt>
    <dgm:pt modelId="{7E5A073F-3327-4B57-A0D1-BB1E381140DC}" type="parTrans" cxnId="{9F716DB2-ACC9-4008-AC29-6301CBC1F3E6}">
      <dgm:prSet/>
      <dgm:spPr/>
      <dgm:t>
        <a:bodyPr/>
        <a:lstStyle/>
        <a:p>
          <a:endParaRPr lang="de-DE"/>
        </a:p>
      </dgm:t>
    </dgm:pt>
    <dgm:pt modelId="{880D42D4-8792-4CD3-9DF7-0D6F2DE468EA}" type="sibTrans" cxnId="{9F716DB2-ACC9-4008-AC29-6301CBC1F3E6}">
      <dgm:prSet/>
      <dgm:spPr/>
      <dgm:t>
        <a:bodyPr/>
        <a:lstStyle/>
        <a:p>
          <a:pPr>
            <a:lnSpc>
              <a:spcPct val="100000"/>
            </a:lnSpc>
            <a:defRPr b="1"/>
          </a:pPr>
          <a:endParaRPr lang="de-DE"/>
        </a:p>
      </dgm:t>
    </dgm:pt>
    <dgm:pt modelId="{7450C08B-7D67-4A53-BA08-2419CCA4FD45}">
      <dgm:prSet/>
      <dgm:spPr/>
      <dgm:t>
        <a:bodyPr/>
        <a:lstStyle/>
        <a:p>
          <a:pPr>
            <a:lnSpc>
              <a:spcPct val="100000"/>
            </a:lnSpc>
          </a:pPr>
          <a:r>
            <a:rPr lang="de-DE"/>
            <a:t>Increased transaction complexity complicates tracking and record management during busy periods.</a:t>
          </a:r>
        </a:p>
      </dgm:t>
    </dgm:pt>
    <dgm:pt modelId="{845DFBE2-B6E0-430C-A7C2-B79D18F7D5E9}" type="parTrans" cxnId="{B5269B3B-B42E-4CCF-B085-3D678E0D8231}">
      <dgm:prSet/>
      <dgm:spPr/>
      <dgm:t>
        <a:bodyPr/>
        <a:lstStyle/>
        <a:p>
          <a:endParaRPr lang="de-DE"/>
        </a:p>
      </dgm:t>
    </dgm:pt>
    <dgm:pt modelId="{770070B5-5197-49BE-A0EA-1D74E410B538}" type="sibTrans" cxnId="{B5269B3B-B42E-4CCF-B085-3D678E0D8231}">
      <dgm:prSet/>
      <dgm:spPr/>
      <dgm:t>
        <a:bodyPr/>
        <a:lstStyle/>
        <a:p>
          <a:endParaRPr lang="de-DE"/>
        </a:p>
      </dgm:t>
    </dgm:pt>
    <dgm:pt modelId="{2CC9499E-4225-451F-AE5E-987FCCB5AA11}">
      <dgm:prSet/>
      <dgm:spPr/>
      <dgm:t>
        <a:bodyPr/>
        <a:lstStyle/>
        <a:p>
          <a:pPr>
            <a:lnSpc>
              <a:spcPct val="100000"/>
            </a:lnSpc>
            <a:defRPr b="1"/>
          </a:pPr>
          <a:r>
            <a:rPr lang="de-DE"/>
            <a:t>Operational Bottlenecks</a:t>
          </a:r>
        </a:p>
      </dgm:t>
    </dgm:pt>
    <dgm:pt modelId="{12409BA8-D70A-4977-A3F9-5CACF3C447F9}" type="parTrans" cxnId="{1FBBB61E-09D3-47CC-A393-89E8FBB8BAC3}">
      <dgm:prSet/>
      <dgm:spPr/>
      <dgm:t>
        <a:bodyPr/>
        <a:lstStyle/>
        <a:p>
          <a:endParaRPr lang="de-DE"/>
        </a:p>
      </dgm:t>
    </dgm:pt>
    <dgm:pt modelId="{7F860BF5-BB37-4320-8F01-75F67A1F23A7}" type="sibTrans" cxnId="{1FBBB61E-09D3-47CC-A393-89E8FBB8BAC3}">
      <dgm:prSet/>
      <dgm:spPr/>
      <dgm:t>
        <a:bodyPr/>
        <a:lstStyle/>
        <a:p>
          <a:endParaRPr lang="de-DE"/>
        </a:p>
      </dgm:t>
    </dgm:pt>
    <dgm:pt modelId="{0489EFB6-B5AF-4BD7-879C-DBC1250CC32D}">
      <dgm:prSet/>
      <dgm:spPr/>
      <dgm:t>
        <a:bodyPr/>
        <a:lstStyle/>
        <a:p>
          <a:pPr>
            <a:lnSpc>
              <a:spcPct val="100000"/>
            </a:lnSpc>
          </a:pPr>
          <a:r>
            <a:rPr lang="de-DE"/>
            <a:t>High volume and complexity often lead to bottlenecks and inefficiencies in transaction processing.</a:t>
          </a:r>
        </a:p>
      </dgm:t>
    </dgm:pt>
    <dgm:pt modelId="{7AF899E3-A80C-40E4-9B7E-04F62F73D190}" type="parTrans" cxnId="{0AB5C8A6-D3A0-484C-8864-6528A005E76A}">
      <dgm:prSet/>
      <dgm:spPr/>
      <dgm:t>
        <a:bodyPr/>
        <a:lstStyle/>
        <a:p>
          <a:endParaRPr lang="de-DE"/>
        </a:p>
      </dgm:t>
    </dgm:pt>
    <dgm:pt modelId="{48EE0751-E6B0-48CE-9867-8273CB58525C}" type="sibTrans" cxnId="{0AB5C8A6-D3A0-484C-8864-6528A005E76A}">
      <dgm:prSet/>
      <dgm:spPr/>
      <dgm:t>
        <a:bodyPr/>
        <a:lstStyle/>
        <a:p>
          <a:endParaRPr lang="de-DE"/>
        </a:p>
      </dgm:t>
    </dgm:pt>
    <dgm:pt modelId="{2C910CEF-D4D5-4995-897A-E7568CBAB764}" type="pres">
      <dgm:prSet presAssocID="{40037E0F-963B-4C6E-AEBC-F27DA0F6139A}" presName="Root" presStyleCnt="0">
        <dgm:presLayoutVars>
          <dgm:dir/>
          <dgm:resizeHandles val="exact"/>
        </dgm:presLayoutVars>
      </dgm:prSet>
      <dgm:spPr/>
    </dgm:pt>
    <dgm:pt modelId="{18C715AB-B87A-40F0-BDA2-30778555CE7F}" type="pres">
      <dgm:prSet presAssocID="{96375E9A-B759-4C9C-97C9-31BF2DA78281}" presName="Composite" presStyleCnt="0"/>
      <dgm:spPr/>
    </dgm:pt>
    <dgm:pt modelId="{713F4B12-8AFD-41FF-9910-2999E2F57CED}" type="pres">
      <dgm:prSet presAssocID="{96375E9A-B759-4C9C-97C9-31BF2DA7828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5780" r="17468" b="-2"/>
          <a:stretch/>
        </a:blipFill>
      </dgm:spPr>
      <dgm:extLst>
        <a:ext uri="{E40237B7-FDA0-4F09-8148-C483321AD2D9}">
          <dgm14:cNvPr xmlns:dgm14="http://schemas.microsoft.com/office/drawing/2010/diagram" id="0" name="" descr="Stock exchange numbers"/>
        </a:ext>
      </dgm:extLst>
    </dgm:pt>
    <dgm:pt modelId="{909FE7C8-DDB8-4049-A2FC-D92FCB5AEE2A}" type="pres">
      <dgm:prSet presAssocID="{96375E9A-B759-4C9C-97C9-31BF2DA78281}" presName="Subtitle" presStyleLbl="revTx" presStyleIdx="0" presStyleCnt="6">
        <dgm:presLayoutVars>
          <dgm:chMax val="0"/>
          <dgm:bulletEnabled/>
        </dgm:presLayoutVars>
      </dgm:prSet>
      <dgm:spPr/>
    </dgm:pt>
    <dgm:pt modelId="{A64BD0DF-EE43-4F1B-9A22-4F2DD1F7F03B}" type="pres">
      <dgm:prSet presAssocID="{96375E9A-B759-4C9C-97C9-31BF2DA78281}" presName="Description" presStyleLbl="revTx" presStyleIdx="1" presStyleCnt="6">
        <dgm:presLayoutVars>
          <dgm:bulletEnabled/>
        </dgm:presLayoutVars>
      </dgm:prSet>
      <dgm:spPr/>
    </dgm:pt>
    <dgm:pt modelId="{4CE291F7-78BD-43A7-8C98-1C439D3EA9BE}" type="pres">
      <dgm:prSet presAssocID="{8EBFA95F-987E-422A-9D3D-2F7270B3B436}" presName="sibTrans" presStyleLbl="sibTrans2D1" presStyleIdx="0" presStyleCnt="0"/>
      <dgm:spPr/>
    </dgm:pt>
    <dgm:pt modelId="{AC29D2DF-15E9-439D-8BF4-BA9F421D9FDE}" type="pres">
      <dgm:prSet presAssocID="{B8FA5F6A-03A7-4BD1-8AE8-98BF80A1DA02}" presName="Composite" presStyleCnt="0"/>
      <dgm:spPr/>
    </dgm:pt>
    <dgm:pt modelId="{E1E725B6-2726-4510-93A9-22E472D291CE}" type="pres">
      <dgm:prSet presAssocID="{B8FA5F6A-03A7-4BD1-8AE8-98BF80A1DA0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5070" r="19427" b="-5"/>
          <a:stretch/>
        </a:blipFill>
      </dgm:spPr>
      <dgm:extLst>
        <a:ext uri="{E40237B7-FDA0-4F09-8148-C483321AD2D9}">
          <dgm14:cNvPr xmlns:dgm14="http://schemas.microsoft.com/office/drawing/2010/diagram" id="0" name="" descr="Female drawing flow chart"/>
        </a:ext>
      </dgm:extLst>
    </dgm:pt>
    <dgm:pt modelId="{70F2E2EF-0405-4C82-BD84-DE4C7ECDB1FB}" type="pres">
      <dgm:prSet presAssocID="{B8FA5F6A-03A7-4BD1-8AE8-98BF80A1DA02}" presName="Subtitle" presStyleLbl="revTx" presStyleIdx="2" presStyleCnt="6">
        <dgm:presLayoutVars>
          <dgm:chMax val="0"/>
          <dgm:bulletEnabled/>
        </dgm:presLayoutVars>
      </dgm:prSet>
      <dgm:spPr/>
    </dgm:pt>
    <dgm:pt modelId="{32FD399A-2A1F-41C8-8B7C-2DE45F46CB42}" type="pres">
      <dgm:prSet presAssocID="{B8FA5F6A-03A7-4BD1-8AE8-98BF80A1DA02}" presName="Description" presStyleLbl="revTx" presStyleIdx="3" presStyleCnt="6">
        <dgm:presLayoutVars>
          <dgm:bulletEnabled/>
        </dgm:presLayoutVars>
      </dgm:prSet>
      <dgm:spPr/>
    </dgm:pt>
    <dgm:pt modelId="{2BB650C0-8FD5-4157-B06E-993D2A263FD1}" type="pres">
      <dgm:prSet presAssocID="{880D42D4-8792-4CD3-9DF7-0D6F2DE468EA}" presName="sibTrans" presStyleLbl="sibTrans2D1" presStyleIdx="0" presStyleCnt="0"/>
      <dgm:spPr/>
    </dgm:pt>
    <dgm:pt modelId="{5BB1FFBA-B84B-4845-BBB3-B394933C4F43}" type="pres">
      <dgm:prSet presAssocID="{2CC9499E-4225-451F-AE5E-987FCCB5AA11}" presName="Composite" presStyleCnt="0"/>
      <dgm:spPr/>
    </dgm:pt>
    <dgm:pt modelId="{596CCA61-ED34-4229-9AC0-931E29055F60}" type="pres">
      <dgm:prSet presAssocID="{2CC9499E-4225-451F-AE5E-987FCCB5AA11}"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t="19574" r="3" b="13928"/>
          <a:stretch/>
        </a:blipFill>
      </dgm:spPr>
      <dgm:extLst>
        <a:ext uri="{E40237B7-FDA0-4F09-8148-C483321AD2D9}">
          <dgm14:cNvPr xmlns:dgm14="http://schemas.microsoft.com/office/drawing/2010/diagram" id="0" name="" descr="Leaking valve in large outdoor pipe"/>
        </a:ext>
      </dgm:extLst>
    </dgm:pt>
    <dgm:pt modelId="{9E58E736-B7B4-4AC6-ADAF-AFC36ACFA919}" type="pres">
      <dgm:prSet presAssocID="{2CC9499E-4225-451F-AE5E-987FCCB5AA11}" presName="Subtitle" presStyleLbl="revTx" presStyleIdx="4" presStyleCnt="6">
        <dgm:presLayoutVars>
          <dgm:chMax val="0"/>
          <dgm:bulletEnabled/>
        </dgm:presLayoutVars>
      </dgm:prSet>
      <dgm:spPr/>
    </dgm:pt>
    <dgm:pt modelId="{4723EB69-ADE6-421E-9024-3389CF7CB6C7}" type="pres">
      <dgm:prSet presAssocID="{2CC9499E-4225-451F-AE5E-987FCCB5AA11}" presName="Description" presStyleLbl="revTx" presStyleIdx="5" presStyleCnt="6">
        <dgm:presLayoutVars>
          <dgm:bulletEnabled/>
        </dgm:presLayoutVars>
      </dgm:prSet>
      <dgm:spPr/>
    </dgm:pt>
  </dgm:ptLst>
  <dgm:cxnLst>
    <dgm:cxn modelId="{89B1E809-9DAF-49AA-B0A3-ED9CCEB88A33}" type="presOf" srcId="{96375E9A-B759-4C9C-97C9-31BF2DA78281}" destId="{909FE7C8-DDB8-4049-A2FC-D92FCB5AEE2A}" srcOrd="0" destOrd="0" presId="urn:microsoft.com/office/officeart/2024/3/layout/verticalVisualTextBlock1"/>
    <dgm:cxn modelId="{1FBBB61E-09D3-47CC-A393-89E8FBB8BAC3}" srcId="{40037E0F-963B-4C6E-AEBC-F27DA0F6139A}" destId="{2CC9499E-4225-451F-AE5E-987FCCB5AA11}" srcOrd="2" destOrd="0" parTransId="{12409BA8-D70A-4977-A3F9-5CACF3C447F9}" sibTransId="{7F860BF5-BB37-4320-8F01-75F67A1F23A7}"/>
    <dgm:cxn modelId="{83DEE439-398C-44AA-A662-896F47DE27F1}" type="presOf" srcId="{880D42D4-8792-4CD3-9DF7-0D6F2DE468EA}" destId="{2BB650C0-8FD5-4157-B06E-993D2A263FD1}" srcOrd="0" destOrd="0" presId="urn:microsoft.com/office/officeart/2024/3/layout/verticalVisualTextBlock1"/>
    <dgm:cxn modelId="{B5269B3B-B42E-4CCF-B085-3D678E0D8231}" srcId="{B8FA5F6A-03A7-4BD1-8AE8-98BF80A1DA02}" destId="{7450C08B-7D67-4A53-BA08-2419CCA4FD45}" srcOrd="0" destOrd="0" parTransId="{845DFBE2-B6E0-430C-A7C2-B79D18F7D5E9}" sibTransId="{770070B5-5197-49BE-A0EA-1D74E410B538}"/>
    <dgm:cxn modelId="{28D87C76-4BB3-431A-BF87-92FB8EDB7944}" srcId="{96375E9A-B759-4C9C-97C9-31BF2DA78281}" destId="{F6CCD7BF-AC00-4D17-BB8F-9FE9CA7332C7}" srcOrd="0" destOrd="0" parTransId="{CF56824C-E20E-4D13-85B4-5AE796F4E550}" sibTransId="{3E65AB59-6D34-4C97-849D-B6F121499B1A}"/>
    <dgm:cxn modelId="{DDE5A578-7EA8-440F-ACAC-6EEF67F2FAE0}" srcId="{40037E0F-963B-4C6E-AEBC-F27DA0F6139A}" destId="{96375E9A-B759-4C9C-97C9-31BF2DA78281}" srcOrd="0" destOrd="0" parTransId="{49BAB5D0-D014-409A-8225-7CE00A1C8A60}" sibTransId="{8EBFA95F-987E-422A-9D3D-2F7270B3B436}"/>
    <dgm:cxn modelId="{439B1E7B-4027-40B4-8A19-D83A33695B52}" type="presOf" srcId="{B8FA5F6A-03A7-4BD1-8AE8-98BF80A1DA02}" destId="{70F2E2EF-0405-4C82-BD84-DE4C7ECDB1FB}" srcOrd="0" destOrd="0" presId="urn:microsoft.com/office/officeart/2024/3/layout/verticalVisualTextBlock1"/>
    <dgm:cxn modelId="{5A2C9D7C-6F06-483E-9A47-701FEF87E2D6}" type="presOf" srcId="{0489EFB6-B5AF-4BD7-879C-DBC1250CC32D}" destId="{4723EB69-ADE6-421E-9024-3389CF7CB6C7}" srcOrd="0" destOrd="0" presId="urn:microsoft.com/office/officeart/2024/3/layout/verticalVisualTextBlock1"/>
    <dgm:cxn modelId="{1641FC85-CD3C-47E0-A79F-0D88B5DCADE2}" type="presOf" srcId="{F6CCD7BF-AC00-4D17-BB8F-9FE9CA7332C7}" destId="{A64BD0DF-EE43-4F1B-9A22-4F2DD1F7F03B}" srcOrd="0" destOrd="0" presId="urn:microsoft.com/office/officeart/2024/3/layout/verticalVisualTextBlock1"/>
    <dgm:cxn modelId="{579CC888-9601-4432-9E7D-C67F90317591}" type="presOf" srcId="{2CC9499E-4225-451F-AE5E-987FCCB5AA11}" destId="{9E58E736-B7B4-4AC6-ADAF-AFC36ACFA919}" srcOrd="0" destOrd="0" presId="urn:microsoft.com/office/officeart/2024/3/layout/verticalVisualTextBlock1"/>
    <dgm:cxn modelId="{0AB5C8A6-D3A0-484C-8864-6528A005E76A}" srcId="{2CC9499E-4225-451F-AE5E-987FCCB5AA11}" destId="{0489EFB6-B5AF-4BD7-879C-DBC1250CC32D}" srcOrd="0" destOrd="0" parTransId="{7AF899E3-A80C-40E4-9B7E-04F62F73D190}" sibTransId="{48EE0751-E6B0-48CE-9867-8273CB58525C}"/>
    <dgm:cxn modelId="{9F716DB2-ACC9-4008-AC29-6301CBC1F3E6}" srcId="{40037E0F-963B-4C6E-AEBC-F27DA0F6139A}" destId="{B8FA5F6A-03A7-4BD1-8AE8-98BF80A1DA02}" srcOrd="1" destOrd="0" parTransId="{7E5A073F-3327-4B57-A0D1-BB1E381140DC}" sibTransId="{880D42D4-8792-4CD3-9DF7-0D6F2DE468EA}"/>
    <dgm:cxn modelId="{C90735C3-F5EA-48F8-939D-39D8FBB08477}" type="presOf" srcId="{7450C08B-7D67-4A53-BA08-2419CCA4FD45}" destId="{32FD399A-2A1F-41C8-8B7C-2DE45F46CB42}" srcOrd="0" destOrd="0" presId="urn:microsoft.com/office/officeart/2024/3/layout/verticalVisualTextBlock1"/>
    <dgm:cxn modelId="{53D5A4E5-5889-4C04-93CC-19A4E0B97AB4}" type="presOf" srcId="{8EBFA95F-987E-422A-9D3D-2F7270B3B436}" destId="{4CE291F7-78BD-43A7-8C98-1C439D3EA9BE}" srcOrd="0" destOrd="0" presId="urn:microsoft.com/office/officeart/2024/3/layout/verticalVisualTextBlock1"/>
    <dgm:cxn modelId="{8AC8FCF9-71B6-4B30-A03D-110AD94A0299}" type="presOf" srcId="{40037E0F-963B-4C6E-AEBC-F27DA0F6139A}" destId="{2C910CEF-D4D5-4995-897A-E7568CBAB764}" srcOrd="0" destOrd="0" presId="urn:microsoft.com/office/officeart/2024/3/layout/verticalVisualTextBlock1"/>
    <dgm:cxn modelId="{AA80FC9B-5485-44CF-99E4-557332954E45}" type="presParOf" srcId="{2C910CEF-D4D5-4995-897A-E7568CBAB764}" destId="{18C715AB-B87A-40F0-BDA2-30778555CE7F}" srcOrd="0" destOrd="0" presId="urn:microsoft.com/office/officeart/2024/3/layout/verticalVisualTextBlock1"/>
    <dgm:cxn modelId="{4B4557E0-CEEC-4BCB-A705-1F9886EB9757}" type="presParOf" srcId="{18C715AB-B87A-40F0-BDA2-30778555CE7F}" destId="{713F4B12-8AFD-41FF-9910-2999E2F57CED}" srcOrd="0" destOrd="0" presId="urn:microsoft.com/office/officeart/2024/3/layout/verticalVisualTextBlock1"/>
    <dgm:cxn modelId="{B741EF5A-DDBF-4114-8B5E-A8D69A409E4B}" type="presParOf" srcId="{18C715AB-B87A-40F0-BDA2-30778555CE7F}" destId="{909FE7C8-DDB8-4049-A2FC-D92FCB5AEE2A}" srcOrd="1" destOrd="0" presId="urn:microsoft.com/office/officeart/2024/3/layout/verticalVisualTextBlock1"/>
    <dgm:cxn modelId="{98BEDC79-9F4E-4717-9762-E5B40205F256}" type="presParOf" srcId="{18C715AB-B87A-40F0-BDA2-30778555CE7F}" destId="{A64BD0DF-EE43-4F1B-9A22-4F2DD1F7F03B}" srcOrd="2" destOrd="0" presId="urn:microsoft.com/office/officeart/2024/3/layout/verticalVisualTextBlock1"/>
    <dgm:cxn modelId="{941A3F1A-C44E-4402-AEF6-DD2778BDDB72}" type="presParOf" srcId="{2C910CEF-D4D5-4995-897A-E7568CBAB764}" destId="{4CE291F7-78BD-43A7-8C98-1C439D3EA9BE}" srcOrd="1" destOrd="0" presId="urn:microsoft.com/office/officeart/2024/3/layout/verticalVisualTextBlock1"/>
    <dgm:cxn modelId="{D67E969F-8982-4FBC-B4BA-CC5F55076AC1}" type="presParOf" srcId="{2C910CEF-D4D5-4995-897A-E7568CBAB764}" destId="{AC29D2DF-15E9-439D-8BF4-BA9F421D9FDE}" srcOrd="2" destOrd="0" presId="urn:microsoft.com/office/officeart/2024/3/layout/verticalVisualTextBlock1"/>
    <dgm:cxn modelId="{49882CB6-5377-40F1-870C-A8946DA544B0}" type="presParOf" srcId="{AC29D2DF-15E9-439D-8BF4-BA9F421D9FDE}" destId="{E1E725B6-2726-4510-93A9-22E472D291CE}" srcOrd="0" destOrd="0" presId="urn:microsoft.com/office/officeart/2024/3/layout/verticalVisualTextBlock1"/>
    <dgm:cxn modelId="{BC16B071-7E03-46AB-9399-83DB41F71757}" type="presParOf" srcId="{AC29D2DF-15E9-439D-8BF4-BA9F421D9FDE}" destId="{70F2E2EF-0405-4C82-BD84-DE4C7ECDB1FB}" srcOrd="1" destOrd="0" presId="urn:microsoft.com/office/officeart/2024/3/layout/verticalVisualTextBlock1"/>
    <dgm:cxn modelId="{38D71F58-5CF0-4793-8781-690D2BC84636}" type="presParOf" srcId="{AC29D2DF-15E9-439D-8BF4-BA9F421D9FDE}" destId="{32FD399A-2A1F-41C8-8B7C-2DE45F46CB42}" srcOrd="2" destOrd="0" presId="urn:microsoft.com/office/officeart/2024/3/layout/verticalVisualTextBlock1"/>
    <dgm:cxn modelId="{9675B8ED-E0C0-448A-8CC8-69987E58C2CE}" type="presParOf" srcId="{2C910CEF-D4D5-4995-897A-E7568CBAB764}" destId="{2BB650C0-8FD5-4157-B06E-993D2A263FD1}" srcOrd="3" destOrd="0" presId="urn:microsoft.com/office/officeart/2024/3/layout/verticalVisualTextBlock1"/>
    <dgm:cxn modelId="{E413FC86-3414-4636-A7AB-E516D4029CC0}" type="presParOf" srcId="{2C910CEF-D4D5-4995-897A-E7568CBAB764}" destId="{5BB1FFBA-B84B-4845-BBB3-B394933C4F43}" srcOrd="4" destOrd="0" presId="urn:microsoft.com/office/officeart/2024/3/layout/verticalVisualTextBlock1"/>
    <dgm:cxn modelId="{91991729-142B-428A-95EA-913F36031E51}" type="presParOf" srcId="{5BB1FFBA-B84B-4845-BBB3-B394933C4F43}" destId="{596CCA61-ED34-4229-9AC0-931E29055F60}" srcOrd="0" destOrd="0" presId="urn:microsoft.com/office/officeart/2024/3/layout/verticalVisualTextBlock1"/>
    <dgm:cxn modelId="{0F7D6410-5F94-4DB3-B374-A23C010FFD36}" type="presParOf" srcId="{5BB1FFBA-B84B-4845-BBB3-B394933C4F43}" destId="{9E58E736-B7B4-4AC6-ADAF-AFC36ACFA919}" srcOrd="1" destOrd="0" presId="urn:microsoft.com/office/officeart/2024/3/layout/verticalVisualTextBlock1"/>
    <dgm:cxn modelId="{E0D0470D-520B-4F2B-971A-E056B7A7EC96}" type="presParOf" srcId="{5BB1FFBA-B84B-4845-BBB3-B394933C4F43}" destId="{4723EB69-ADE6-421E-9024-3389CF7CB6C7}"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382485-984E-4C22-AAB5-655548AE0F78}"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6E82100-6638-4A20-AC97-20F8EE006131}">
      <dgm:prSet/>
      <dgm:spPr/>
      <dgm:t>
        <a:bodyPr/>
        <a:lstStyle/>
        <a:p>
          <a:pPr>
            <a:lnSpc>
              <a:spcPct val="100000"/>
            </a:lnSpc>
            <a:defRPr b="1"/>
          </a:pPr>
          <a:r>
            <a:rPr lang="de-DE"/>
            <a:t>Addressing Agricultural Challenges</a:t>
          </a:r>
          <a:endParaRPr lang="en-US"/>
        </a:p>
      </dgm:t>
    </dgm:pt>
    <dgm:pt modelId="{AB1B3277-D058-453D-84E0-DC20E326044E}" type="parTrans" cxnId="{058BB5F2-8A26-4ACC-A24A-7839A6170074}">
      <dgm:prSet/>
      <dgm:spPr/>
      <dgm:t>
        <a:bodyPr/>
        <a:lstStyle/>
        <a:p>
          <a:endParaRPr lang="en-US"/>
        </a:p>
      </dgm:t>
    </dgm:pt>
    <dgm:pt modelId="{8C44D5E4-9985-4521-8AFA-E6F547FA0448}" type="sibTrans" cxnId="{058BB5F2-8A26-4ACC-A24A-7839A6170074}">
      <dgm:prSet/>
      <dgm:spPr/>
      <dgm:t>
        <a:bodyPr/>
        <a:lstStyle/>
        <a:p>
          <a:pPr>
            <a:lnSpc>
              <a:spcPct val="100000"/>
            </a:lnSpc>
            <a:defRPr b="1"/>
          </a:pPr>
          <a:endParaRPr lang="en-US"/>
        </a:p>
      </dgm:t>
    </dgm:pt>
    <dgm:pt modelId="{D45E7A6D-B755-4D68-AE2F-AAD9182E6D53}">
      <dgm:prSet/>
      <dgm:spPr/>
      <dgm:t>
        <a:bodyPr/>
        <a:lstStyle/>
        <a:p>
          <a:pPr>
            <a:lnSpc>
              <a:spcPct val="100000"/>
            </a:lnSpc>
          </a:pPr>
          <a:r>
            <a:rPr lang="de-DE"/>
            <a:t>KisaanCenter tackles key challenges in India’s agricultural payment ecosystem using innovative digital solutions.</a:t>
          </a:r>
          <a:endParaRPr lang="en-US"/>
        </a:p>
      </dgm:t>
    </dgm:pt>
    <dgm:pt modelId="{BBEE505F-84B9-42AF-A7A5-DA42172419E2}" type="parTrans" cxnId="{1A7B8454-B5C8-422C-9F69-513FD52CFAE6}">
      <dgm:prSet/>
      <dgm:spPr/>
      <dgm:t>
        <a:bodyPr/>
        <a:lstStyle/>
        <a:p>
          <a:endParaRPr lang="en-US"/>
        </a:p>
      </dgm:t>
    </dgm:pt>
    <dgm:pt modelId="{74E72819-69C9-4BFF-A841-25FDF3824738}" type="sibTrans" cxnId="{1A7B8454-B5C8-422C-9F69-513FD52CFAE6}">
      <dgm:prSet/>
      <dgm:spPr/>
      <dgm:t>
        <a:bodyPr/>
        <a:lstStyle/>
        <a:p>
          <a:endParaRPr lang="en-US"/>
        </a:p>
      </dgm:t>
    </dgm:pt>
    <dgm:pt modelId="{25CA898E-DE5F-4F39-8540-02107D510F7E}">
      <dgm:prSet/>
      <dgm:spPr/>
      <dgm:t>
        <a:bodyPr/>
        <a:lstStyle/>
        <a:p>
          <a:pPr>
            <a:lnSpc>
              <a:spcPct val="100000"/>
            </a:lnSpc>
            <a:defRPr b="1"/>
          </a:pPr>
          <a:r>
            <a:rPr lang="de-DE"/>
            <a:t>Enhancing Transparency and Accuracy</a:t>
          </a:r>
          <a:endParaRPr lang="en-US"/>
        </a:p>
      </dgm:t>
    </dgm:pt>
    <dgm:pt modelId="{A341D77B-2F4C-461E-BC81-60E9C0BD8DC2}" type="parTrans" cxnId="{B0F791A7-F14C-4ED6-A74B-EBCB54E0F589}">
      <dgm:prSet/>
      <dgm:spPr/>
      <dgm:t>
        <a:bodyPr/>
        <a:lstStyle/>
        <a:p>
          <a:endParaRPr lang="en-US"/>
        </a:p>
      </dgm:t>
    </dgm:pt>
    <dgm:pt modelId="{A34A614D-5BA1-49F4-AA2B-BD6C413F8F6D}" type="sibTrans" cxnId="{B0F791A7-F14C-4ED6-A74B-EBCB54E0F589}">
      <dgm:prSet/>
      <dgm:spPr/>
      <dgm:t>
        <a:bodyPr/>
        <a:lstStyle/>
        <a:p>
          <a:pPr>
            <a:lnSpc>
              <a:spcPct val="100000"/>
            </a:lnSpc>
            <a:defRPr b="1"/>
          </a:pPr>
          <a:endParaRPr lang="en-US"/>
        </a:p>
      </dgm:t>
    </dgm:pt>
    <dgm:pt modelId="{A7B15FA1-F3A1-49D9-9E51-5FF1F2B7A9BD}">
      <dgm:prSet/>
      <dgm:spPr/>
      <dgm:t>
        <a:bodyPr/>
        <a:lstStyle/>
        <a:p>
          <a:pPr>
            <a:lnSpc>
              <a:spcPct val="100000"/>
            </a:lnSpc>
          </a:pPr>
          <a:r>
            <a:rPr lang="de-DE"/>
            <a:t>Digital innovation by KisaanCenter increases transparency and accuracy in transactions for all stakeholders.</a:t>
          </a:r>
          <a:endParaRPr lang="en-US"/>
        </a:p>
      </dgm:t>
    </dgm:pt>
    <dgm:pt modelId="{6F9BB157-9F78-4199-A9B3-59735278A9EE}" type="parTrans" cxnId="{4F1EFDE2-BBE4-4C88-91FA-31CC12F38CBC}">
      <dgm:prSet/>
      <dgm:spPr/>
      <dgm:t>
        <a:bodyPr/>
        <a:lstStyle/>
        <a:p>
          <a:endParaRPr lang="en-US"/>
        </a:p>
      </dgm:t>
    </dgm:pt>
    <dgm:pt modelId="{281F928C-1B1A-46CC-98A7-8C59C96F07E0}" type="sibTrans" cxnId="{4F1EFDE2-BBE4-4C88-91FA-31CC12F38CBC}">
      <dgm:prSet/>
      <dgm:spPr/>
      <dgm:t>
        <a:bodyPr/>
        <a:lstStyle/>
        <a:p>
          <a:endParaRPr lang="en-US"/>
        </a:p>
      </dgm:t>
    </dgm:pt>
    <dgm:pt modelId="{C27CDDD1-247D-43C1-8974-BAE90F0C9BF4}">
      <dgm:prSet/>
      <dgm:spPr/>
      <dgm:t>
        <a:bodyPr/>
        <a:lstStyle/>
        <a:p>
          <a:pPr>
            <a:lnSpc>
              <a:spcPct val="100000"/>
            </a:lnSpc>
            <a:defRPr b="1"/>
          </a:pPr>
          <a:r>
            <a:rPr lang="de-DE"/>
            <a:t>Building Trust Among Participants</a:t>
          </a:r>
          <a:endParaRPr lang="en-US"/>
        </a:p>
      </dgm:t>
    </dgm:pt>
    <dgm:pt modelId="{DEA5FFF9-6E60-4706-9713-515013B01D4A}" type="parTrans" cxnId="{72BEE325-31CE-4A6A-B2EF-910431732C88}">
      <dgm:prSet/>
      <dgm:spPr/>
      <dgm:t>
        <a:bodyPr/>
        <a:lstStyle/>
        <a:p>
          <a:endParaRPr lang="en-US"/>
        </a:p>
      </dgm:t>
    </dgm:pt>
    <dgm:pt modelId="{E758215F-E023-4D59-A4BE-E97EC625152F}" type="sibTrans" cxnId="{72BEE325-31CE-4A6A-B2EF-910431732C88}">
      <dgm:prSet/>
      <dgm:spPr/>
      <dgm:t>
        <a:bodyPr/>
        <a:lstStyle/>
        <a:p>
          <a:endParaRPr lang="en-US"/>
        </a:p>
      </dgm:t>
    </dgm:pt>
    <dgm:pt modelId="{09C2D2BC-21E5-4906-BD58-8501A477B2DC}">
      <dgm:prSet/>
      <dgm:spPr/>
      <dgm:t>
        <a:bodyPr/>
        <a:lstStyle/>
        <a:p>
          <a:pPr>
            <a:lnSpc>
              <a:spcPct val="100000"/>
            </a:lnSpc>
          </a:pPr>
          <a:r>
            <a:rPr lang="de-DE"/>
            <a:t>KisaanCenter fosters trust between farmers, traders, and markets through reliable digital payment methods.</a:t>
          </a:r>
          <a:endParaRPr lang="en-US"/>
        </a:p>
      </dgm:t>
    </dgm:pt>
    <dgm:pt modelId="{AF709C17-27F6-49FC-81D7-023AE28248A6}" type="parTrans" cxnId="{2EFE4007-7036-4F1F-8FAA-A791A2DA7922}">
      <dgm:prSet/>
      <dgm:spPr/>
      <dgm:t>
        <a:bodyPr/>
        <a:lstStyle/>
        <a:p>
          <a:endParaRPr lang="en-US"/>
        </a:p>
      </dgm:t>
    </dgm:pt>
    <dgm:pt modelId="{B0A802C7-8298-407D-9188-2E93F7076B3C}" type="sibTrans" cxnId="{2EFE4007-7036-4F1F-8FAA-A791A2DA7922}">
      <dgm:prSet/>
      <dgm:spPr/>
      <dgm:t>
        <a:bodyPr/>
        <a:lstStyle/>
        <a:p>
          <a:endParaRPr lang="en-US"/>
        </a:p>
      </dgm:t>
    </dgm:pt>
    <dgm:pt modelId="{0F511B7E-DF5B-473A-B2F4-0D066CE169FE}" type="pres">
      <dgm:prSet presAssocID="{F6382485-984E-4C22-AAB5-655548AE0F78}" presName="Name0" presStyleCnt="0">
        <dgm:presLayoutVars>
          <dgm:dir/>
          <dgm:resizeHandles val="exact"/>
        </dgm:presLayoutVars>
      </dgm:prSet>
      <dgm:spPr/>
    </dgm:pt>
    <dgm:pt modelId="{BAC2D0AB-F94D-4B2C-A577-76410BB41DB1}" type="pres">
      <dgm:prSet presAssocID="{66E82100-6638-4A20-AC97-20F8EE006131}" presName="compNode" presStyleCnt="0"/>
      <dgm:spPr/>
    </dgm:pt>
    <dgm:pt modelId="{A6E7DA95-CE44-40EE-9BB1-E7140B3261EC}" type="pres">
      <dgm:prSet presAssocID="{66E82100-6638-4A20-AC97-20F8EE006131}" presName="pictRect" presStyleLbl="revTx" presStyleIdx="0" presStyleCnt="6">
        <dgm:presLayoutVars>
          <dgm:chMax val="0"/>
          <dgm:bulletEnabled/>
        </dgm:presLayoutVars>
      </dgm:prSet>
      <dgm:spPr/>
    </dgm:pt>
    <dgm:pt modelId="{42B998EE-70E6-4E33-86C8-AAAA88AD6B5F}" type="pres">
      <dgm:prSet presAssocID="{66E82100-6638-4A20-AC97-20F8EE006131}" presName="textRect" presStyleLbl="revTx" presStyleIdx="1" presStyleCnt="6">
        <dgm:presLayoutVars>
          <dgm:bulletEnabled/>
        </dgm:presLayoutVars>
      </dgm:prSet>
      <dgm:spPr/>
    </dgm:pt>
    <dgm:pt modelId="{B1B958DC-8DA9-4158-82A8-235055C4DA14}" type="pres">
      <dgm:prSet presAssocID="{8C44D5E4-9985-4521-8AFA-E6F547FA0448}" presName="sibTrans" presStyleLbl="sibTrans2D1" presStyleIdx="0" presStyleCnt="0"/>
      <dgm:spPr/>
    </dgm:pt>
    <dgm:pt modelId="{6D2415D1-2765-4248-BD7A-8E67E649831F}" type="pres">
      <dgm:prSet presAssocID="{25CA898E-DE5F-4F39-8540-02107D510F7E}" presName="compNode" presStyleCnt="0"/>
      <dgm:spPr/>
    </dgm:pt>
    <dgm:pt modelId="{433AE139-B1C0-4953-9712-89474F30DF68}" type="pres">
      <dgm:prSet presAssocID="{25CA898E-DE5F-4F39-8540-02107D510F7E}" presName="pictRect" presStyleLbl="revTx" presStyleIdx="2" presStyleCnt="6">
        <dgm:presLayoutVars>
          <dgm:chMax val="0"/>
          <dgm:bulletEnabled/>
        </dgm:presLayoutVars>
      </dgm:prSet>
      <dgm:spPr/>
    </dgm:pt>
    <dgm:pt modelId="{C3F7DD9B-1E9E-412A-AFCC-263EBF0A61CF}" type="pres">
      <dgm:prSet presAssocID="{25CA898E-DE5F-4F39-8540-02107D510F7E}" presName="textRect" presStyleLbl="revTx" presStyleIdx="3" presStyleCnt="6">
        <dgm:presLayoutVars>
          <dgm:bulletEnabled/>
        </dgm:presLayoutVars>
      </dgm:prSet>
      <dgm:spPr/>
    </dgm:pt>
    <dgm:pt modelId="{D8EC05EA-16A0-4CEC-8766-C247EA4AD96B}" type="pres">
      <dgm:prSet presAssocID="{A34A614D-5BA1-49F4-AA2B-BD6C413F8F6D}" presName="sibTrans" presStyleLbl="sibTrans2D1" presStyleIdx="0" presStyleCnt="0"/>
      <dgm:spPr/>
    </dgm:pt>
    <dgm:pt modelId="{5B7C1249-36BB-4AE5-9014-C706AC4795D3}" type="pres">
      <dgm:prSet presAssocID="{C27CDDD1-247D-43C1-8974-BAE90F0C9BF4}" presName="compNode" presStyleCnt="0"/>
      <dgm:spPr/>
    </dgm:pt>
    <dgm:pt modelId="{3AD39444-0136-496E-97D8-27EB22A7DEE5}" type="pres">
      <dgm:prSet presAssocID="{C27CDDD1-247D-43C1-8974-BAE90F0C9BF4}" presName="pictRect" presStyleLbl="revTx" presStyleIdx="4" presStyleCnt="6">
        <dgm:presLayoutVars>
          <dgm:chMax val="0"/>
          <dgm:bulletEnabled/>
        </dgm:presLayoutVars>
      </dgm:prSet>
      <dgm:spPr/>
    </dgm:pt>
    <dgm:pt modelId="{E2FBBCEC-3D98-4FEE-A31C-F92EBC0228F3}" type="pres">
      <dgm:prSet presAssocID="{C27CDDD1-247D-43C1-8974-BAE90F0C9BF4}" presName="textRect" presStyleLbl="revTx" presStyleIdx="5" presStyleCnt="6">
        <dgm:presLayoutVars>
          <dgm:bulletEnabled/>
        </dgm:presLayoutVars>
      </dgm:prSet>
      <dgm:spPr/>
    </dgm:pt>
  </dgm:ptLst>
  <dgm:cxnLst>
    <dgm:cxn modelId="{2EFE4007-7036-4F1F-8FAA-A791A2DA7922}" srcId="{C27CDDD1-247D-43C1-8974-BAE90F0C9BF4}" destId="{09C2D2BC-21E5-4906-BD58-8501A477B2DC}" srcOrd="0" destOrd="0" parTransId="{AF709C17-27F6-49FC-81D7-023AE28248A6}" sibTransId="{B0A802C7-8298-407D-9188-2E93F7076B3C}"/>
    <dgm:cxn modelId="{801DE51C-9793-45A8-9E19-3A01AF7C5F44}" type="presOf" srcId="{F6382485-984E-4C22-AAB5-655548AE0F78}" destId="{0F511B7E-DF5B-473A-B2F4-0D066CE169FE}" srcOrd="0" destOrd="0" presId="urn:microsoft.com/office/officeart/2024/3/layout/hArchList1"/>
    <dgm:cxn modelId="{72BEE325-31CE-4A6A-B2EF-910431732C88}" srcId="{F6382485-984E-4C22-AAB5-655548AE0F78}" destId="{C27CDDD1-247D-43C1-8974-BAE90F0C9BF4}" srcOrd="2" destOrd="0" parTransId="{DEA5FFF9-6E60-4706-9713-515013B01D4A}" sibTransId="{E758215F-E023-4D59-A4BE-E97EC625152F}"/>
    <dgm:cxn modelId="{7756DC4F-2DB6-4A71-B0A1-A793475A457B}" type="presOf" srcId="{25CA898E-DE5F-4F39-8540-02107D510F7E}" destId="{433AE139-B1C0-4953-9712-89474F30DF68}" srcOrd="0" destOrd="0" presId="urn:microsoft.com/office/officeart/2024/3/layout/hArchList1"/>
    <dgm:cxn modelId="{1A7B8454-B5C8-422C-9F69-513FD52CFAE6}" srcId="{66E82100-6638-4A20-AC97-20F8EE006131}" destId="{D45E7A6D-B755-4D68-AE2F-AAD9182E6D53}" srcOrd="0" destOrd="0" parTransId="{BBEE505F-84B9-42AF-A7A5-DA42172419E2}" sibTransId="{74E72819-69C9-4BFF-A841-25FDF3824738}"/>
    <dgm:cxn modelId="{D3264278-FD6A-4F7B-A569-C232AA9F45FD}" type="presOf" srcId="{8C44D5E4-9985-4521-8AFA-E6F547FA0448}" destId="{B1B958DC-8DA9-4158-82A8-235055C4DA14}" srcOrd="0" destOrd="0" presId="urn:microsoft.com/office/officeart/2024/3/layout/hArchList1"/>
    <dgm:cxn modelId="{B0F791A7-F14C-4ED6-A74B-EBCB54E0F589}" srcId="{F6382485-984E-4C22-AAB5-655548AE0F78}" destId="{25CA898E-DE5F-4F39-8540-02107D510F7E}" srcOrd="1" destOrd="0" parTransId="{A341D77B-2F4C-461E-BC81-60E9C0BD8DC2}" sibTransId="{A34A614D-5BA1-49F4-AA2B-BD6C413F8F6D}"/>
    <dgm:cxn modelId="{75EF0EAC-BB1B-41AA-AF1E-CFEEC05CB948}" type="presOf" srcId="{D45E7A6D-B755-4D68-AE2F-AAD9182E6D53}" destId="{42B998EE-70E6-4E33-86C8-AAAA88AD6B5F}" srcOrd="0" destOrd="0" presId="urn:microsoft.com/office/officeart/2024/3/layout/hArchList1"/>
    <dgm:cxn modelId="{2CB71DAF-3B39-4734-9258-3B33FBCE19BB}" type="presOf" srcId="{A7B15FA1-F3A1-49D9-9E51-5FF1F2B7A9BD}" destId="{C3F7DD9B-1E9E-412A-AFCC-263EBF0A61CF}" srcOrd="0" destOrd="0" presId="urn:microsoft.com/office/officeart/2024/3/layout/hArchList1"/>
    <dgm:cxn modelId="{8AA87EC1-71A3-4EDA-929D-14FE6543F555}" type="presOf" srcId="{66E82100-6638-4A20-AC97-20F8EE006131}" destId="{A6E7DA95-CE44-40EE-9BB1-E7140B3261EC}" srcOrd="0" destOrd="0" presId="urn:microsoft.com/office/officeart/2024/3/layout/hArchList1"/>
    <dgm:cxn modelId="{90BB29DF-D7FD-423E-832D-EB6B79F06754}" type="presOf" srcId="{09C2D2BC-21E5-4906-BD58-8501A477B2DC}" destId="{E2FBBCEC-3D98-4FEE-A31C-F92EBC0228F3}" srcOrd="0" destOrd="0" presId="urn:microsoft.com/office/officeart/2024/3/layout/hArchList1"/>
    <dgm:cxn modelId="{4F1EFDE2-BBE4-4C88-91FA-31CC12F38CBC}" srcId="{25CA898E-DE5F-4F39-8540-02107D510F7E}" destId="{A7B15FA1-F3A1-49D9-9E51-5FF1F2B7A9BD}" srcOrd="0" destOrd="0" parTransId="{6F9BB157-9F78-4199-A9B3-59735278A9EE}" sibTransId="{281F928C-1B1A-46CC-98A7-8C59C96F07E0}"/>
    <dgm:cxn modelId="{984B72F2-4832-45C3-A278-9957446C16B1}" type="presOf" srcId="{C27CDDD1-247D-43C1-8974-BAE90F0C9BF4}" destId="{3AD39444-0136-496E-97D8-27EB22A7DEE5}" srcOrd="0" destOrd="0" presId="urn:microsoft.com/office/officeart/2024/3/layout/hArchList1"/>
    <dgm:cxn modelId="{058BB5F2-8A26-4ACC-A24A-7839A6170074}" srcId="{F6382485-984E-4C22-AAB5-655548AE0F78}" destId="{66E82100-6638-4A20-AC97-20F8EE006131}" srcOrd="0" destOrd="0" parTransId="{AB1B3277-D058-453D-84E0-DC20E326044E}" sibTransId="{8C44D5E4-9985-4521-8AFA-E6F547FA0448}"/>
    <dgm:cxn modelId="{685B36F8-CA82-4C7B-85B3-3E3E314C86DF}" type="presOf" srcId="{A34A614D-5BA1-49F4-AA2B-BD6C413F8F6D}" destId="{D8EC05EA-16A0-4CEC-8766-C247EA4AD96B}" srcOrd="0" destOrd="0" presId="urn:microsoft.com/office/officeart/2024/3/layout/hArchList1"/>
    <dgm:cxn modelId="{D6D9151B-B2B4-4EA1-B86B-AF3DA9EA47C5}" type="presParOf" srcId="{0F511B7E-DF5B-473A-B2F4-0D066CE169FE}" destId="{BAC2D0AB-F94D-4B2C-A577-76410BB41DB1}" srcOrd="0" destOrd="0" presId="urn:microsoft.com/office/officeart/2024/3/layout/hArchList1"/>
    <dgm:cxn modelId="{F0CE4C35-7C7B-4D38-8FC5-99B785C370AD}" type="presParOf" srcId="{BAC2D0AB-F94D-4B2C-A577-76410BB41DB1}" destId="{A6E7DA95-CE44-40EE-9BB1-E7140B3261EC}" srcOrd="0" destOrd="0" presId="urn:microsoft.com/office/officeart/2024/3/layout/hArchList1"/>
    <dgm:cxn modelId="{B2431F20-9DCC-43F6-8DF7-F989CC0263C1}" type="presParOf" srcId="{BAC2D0AB-F94D-4B2C-A577-76410BB41DB1}" destId="{42B998EE-70E6-4E33-86C8-AAAA88AD6B5F}" srcOrd="1" destOrd="0" presId="urn:microsoft.com/office/officeart/2024/3/layout/hArchList1"/>
    <dgm:cxn modelId="{0AC62FC2-51F2-45CA-8C20-7AB71A3D7435}" type="presParOf" srcId="{0F511B7E-DF5B-473A-B2F4-0D066CE169FE}" destId="{B1B958DC-8DA9-4158-82A8-235055C4DA14}" srcOrd="1" destOrd="0" presId="urn:microsoft.com/office/officeart/2024/3/layout/hArchList1"/>
    <dgm:cxn modelId="{DDEFFD2E-ECE9-469F-B2F2-598265B4EFF6}" type="presParOf" srcId="{0F511B7E-DF5B-473A-B2F4-0D066CE169FE}" destId="{6D2415D1-2765-4248-BD7A-8E67E649831F}" srcOrd="2" destOrd="0" presId="urn:microsoft.com/office/officeart/2024/3/layout/hArchList1"/>
    <dgm:cxn modelId="{25BFFE69-61B2-4EA2-B143-921121E25723}" type="presParOf" srcId="{6D2415D1-2765-4248-BD7A-8E67E649831F}" destId="{433AE139-B1C0-4953-9712-89474F30DF68}" srcOrd="0" destOrd="0" presId="urn:microsoft.com/office/officeart/2024/3/layout/hArchList1"/>
    <dgm:cxn modelId="{246A8343-832E-48E6-B7A9-339306402F82}" type="presParOf" srcId="{6D2415D1-2765-4248-BD7A-8E67E649831F}" destId="{C3F7DD9B-1E9E-412A-AFCC-263EBF0A61CF}" srcOrd="1" destOrd="0" presId="urn:microsoft.com/office/officeart/2024/3/layout/hArchList1"/>
    <dgm:cxn modelId="{9EEA8EF3-2653-4BFC-8CC7-AAE03C1CC54C}" type="presParOf" srcId="{0F511B7E-DF5B-473A-B2F4-0D066CE169FE}" destId="{D8EC05EA-16A0-4CEC-8766-C247EA4AD96B}" srcOrd="3" destOrd="0" presId="urn:microsoft.com/office/officeart/2024/3/layout/hArchList1"/>
    <dgm:cxn modelId="{DD9331CB-FBBF-4FC2-A357-67B5038FE3CB}" type="presParOf" srcId="{0F511B7E-DF5B-473A-B2F4-0D066CE169FE}" destId="{5B7C1249-36BB-4AE5-9014-C706AC4795D3}" srcOrd="4" destOrd="0" presId="urn:microsoft.com/office/officeart/2024/3/layout/hArchList1"/>
    <dgm:cxn modelId="{309EB173-92F2-4639-9821-485362718A66}" type="presParOf" srcId="{5B7C1249-36BB-4AE5-9014-C706AC4795D3}" destId="{3AD39444-0136-496E-97D8-27EB22A7DEE5}" srcOrd="0" destOrd="0" presId="urn:microsoft.com/office/officeart/2024/3/layout/hArchList1"/>
    <dgm:cxn modelId="{DCF69C3B-4BD9-45EA-BB46-D5EA33D25862}" type="presParOf" srcId="{5B7C1249-36BB-4AE5-9014-C706AC4795D3}" destId="{E2FBBCEC-3D98-4FEE-A31C-F92EBC0228F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3F4B12-8AFD-41FF-9910-2999E2F57CED}">
      <dsp:nvSpPr>
        <dsp:cNvPr id="0" name=""/>
        <dsp:cNvSpPr/>
      </dsp:nvSpPr>
      <dsp:spPr>
        <a:xfrm>
          <a:off x="0" y="0"/>
          <a:ext cx="1681599" cy="168159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5780" r="17468" b="-2"/>
          <a:stretch/>
        </a:blipFill>
        <a:ln>
          <a:noFill/>
        </a:ln>
        <a:effectLst/>
      </dsp:spPr>
      <dsp:style>
        <a:lnRef idx="0">
          <a:scrgbClr r="0" g="0" b="0"/>
        </a:lnRef>
        <a:fillRef idx="3">
          <a:scrgbClr r="0" g="0" b="0"/>
        </a:fillRef>
        <a:effectRef idx="2">
          <a:scrgbClr r="0" g="0" b="0"/>
        </a:effectRef>
        <a:fontRef idx="minor">
          <a:schemeClr val="lt1"/>
        </a:fontRef>
      </dsp:style>
    </dsp:sp>
    <dsp:sp modelId="{909FE7C8-DDB8-4049-A2FC-D92FCB5AEE2A}">
      <dsp:nvSpPr>
        <dsp:cNvPr id="0" name=""/>
        <dsp:cNvSpPr/>
      </dsp:nvSpPr>
      <dsp:spPr>
        <a:xfrm>
          <a:off x="1861599" y="0"/>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de-DE" sz="1800" kern="1200"/>
            <a:t>Surge in Transaction Volume</a:t>
          </a:r>
        </a:p>
      </dsp:txBody>
      <dsp:txXfrm>
        <a:off x="1861599" y="0"/>
        <a:ext cx="5167674" cy="346182"/>
      </dsp:txXfrm>
    </dsp:sp>
    <dsp:sp modelId="{A64BD0DF-EE43-4F1B-9A22-4F2DD1F7F03B}">
      <dsp:nvSpPr>
        <dsp:cNvPr id="0" name=""/>
        <dsp:cNvSpPr/>
      </dsp:nvSpPr>
      <dsp:spPr>
        <a:xfrm>
          <a:off x="1861599" y="346182"/>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de-DE" sz="1400" kern="1200"/>
            <a:t>Peak periods cause a sharp rise in transaction numbers, increasing processing demands significantly.</a:t>
          </a:r>
        </a:p>
      </dsp:txBody>
      <dsp:txXfrm>
        <a:off x="1861599" y="346182"/>
        <a:ext cx="5167674" cy="1335417"/>
      </dsp:txXfrm>
    </dsp:sp>
    <dsp:sp modelId="{E1E725B6-2726-4510-93A9-22E472D291CE}">
      <dsp:nvSpPr>
        <dsp:cNvPr id="0" name=""/>
        <dsp:cNvSpPr/>
      </dsp:nvSpPr>
      <dsp:spPr>
        <a:xfrm>
          <a:off x="0" y="1816127"/>
          <a:ext cx="1681599" cy="168159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5070" r="19427" b="-5"/>
          <a:stretch/>
        </a:blipFill>
        <a:ln>
          <a:noFill/>
        </a:ln>
        <a:effectLst/>
      </dsp:spPr>
      <dsp:style>
        <a:lnRef idx="0">
          <a:scrgbClr r="0" g="0" b="0"/>
        </a:lnRef>
        <a:fillRef idx="3">
          <a:scrgbClr r="0" g="0" b="0"/>
        </a:fillRef>
        <a:effectRef idx="2">
          <a:scrgbClr r="0" g="0" b="0"/>
        </a:effectRef>
        <a:fontRef idx="minor">
          <a:schemeClr val="lt1"/>
        </a:fontRef>
      </dsp:style>
    </dsp:sp>
    <dsp:sp modelId="{70F2E2EF-0405-4C82-BD84-DE4C7ECDB1FB}">
      <dsp:nvSpPr>
        <dsp:cNvPr id="0" name=""/>
        <dsp:cNvSpPr/>
      </dsp:nvSpPr>
      <dsp:spPr>
        <a:xfrm>
          <a:off x="1861599" y="1816127"/>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de-DE" sz="1800" kern="1200"/>
            <a:t>Complex Payment Tracking</a:t>
          </a:r>
        </a:p>
      </dsp:txBody>
      <dsp:txXfrm>
        <a:off x="1861599" y="1816127"/>
        <a:ext cx="5167674" cy="346182"/>
      </dsp:txXfrm>
    </dsp:sp>
    <dsp:sp modelId="{32FD399A-2A1F-41C8-8B7C-2DE45F46CB42}">
      <dsp:nvSpPr>
        <dsp:cNvPr id="0" name=""/>
        <dsp:cNvSpPr/>
      </dsp:nvSpPr>
      <dsp:spPr>
        <a:xfrm>
          <a:off x="1861599" y="2162310"/>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de-DE" sz="1400" kern="1200"/>
            <a:t>Increased transaction complexity complicates tracking and record management during busy periods.</a:t>
          </a:r>
        </a:p>
      </dsp:txBody>
      <dsp:txXfrm>
        <a:off x="1861599" y="2162310"/>
        <a:ext cx="5167674" cy="1335417"/>
      </dsp:txXfrm>
    </dsp:sp>
    <dsp:sp modelId="{596CCA61-ED34-4229-9AC0-931E29055F60}">
      <dsp:nvSpPr>
        <dsp:cNvPr id="0" name=""/>
        <dsp:cNvSpPr/>
      </dsp:nvSpPr>
      <dsp:spPr>
        <a:xfrm>
          <a:off x="0" y="3632255"/>
          <a:ext cx="1681599" cy="168159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t="19574" r="3" b="13928"/>
          <a:stretch/>
        </a:blipFill>
        <a:ln>
          <a:noFill/>
        </a:ln>
        <a:effectLst/>
      </dsp:spPr>
      <dsp:style>
        <a:lnRef idx="0">
          <a:scrgbClr r="0" g="0" b="0"/>
        </a:lnRef>
        <a:fillRef idx="3">
          <a:scrgbClr r="0" g="0" b="0"/>
        </a:fillRef>
        <a:effectRef idx="2">
          <a:scrgbClr r="0" g="0" b="0"/>
        </a:effectRef>
        <a:fontRef idx="minor">
          <a:schemeClr val="lt1"/>
        </a:fontRef>
      </dsp:style>
    </dsp:sp>
    <dsp:sp modelId="{9E58E736-B7B4-4AC6-ADAF-AFC36ACFA919}">
      <dsp:nvSpPr>
        <dsp:cNvPr id="0" name=""/>
        <dsp:cNvSpPr/>
      </dsp:nvSpPr>
      <dsp:spPr>
        <a:xfrm>
          <a:off x="1861599" y="3632255"/>
          <a:ext cx="5167674" cy="346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de-DE" sz="1800" kern="1200"/>
            <a:t>Operational Bottlenecks</a:t>
          </a:r>
        </a:p>
      </dsp:txBody>
      <dsp:txXfrm>
        <a:off x="1861599" y="3632255"/>
        <a:ext cx="5167674" cy="346182"/>
      </dsp:txXfrm>
    </dsp:sp>
    <dsp:sp modelId="{4723EB69-ADE6-421E-9024-3389CF7CB6C7}">
      <dsp:nvSpPr>
        <dsp:cNvPr id="0" name=""/>
        <dsp:cNvSpPr/>
      </dsp:nvSpPr>
      <dsp:spPr>
        <a:xfrm>
          <a:off x="1861599" y="3978438"/>
          <a:ext cx="5167674" cy="13354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de-DE" sz="1400" kern="1200"/>
            <a:t>High volume and complexity often lead to bottlenecks and inefficiencies in transaction processing.</a:t>
          </a:r>
        </a:p>
      </dsp:txBody>
      <dsp:txXfrm>
        <a:off x="1861599" y="3978438"/>
        <a:ext cx="5167674" cy="13354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7DA95-CE44-40EE-9BB1-E7140B3261EC}">
      <dsp:nvSpPr>
        <dsp:cNvPr id="0" name=""/>
        <dsp:cNvSpPr/>
      </dsp:nvSpPr>
      <dsp:spPr>
        <a:xfrm>
          <a:off x="0" y="0"/>
          <a:ext cx="3377565" cy="59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de-DE" sz="1800" kern="1200"/>
            <a:t>Addressing Agricultural Challenges</a:t>
          </a:r>
          <a:endParaRPr lang="en-US" sz="1800" kern="1200"/>
        </a:p>
      </dsp:txBody>
      <dsp:txXfrm>
        <a:off x="0" y="0"/>
        <a:ext cx="3377565" cy="595074"/>
      </dsp:txXfrm>
    </dsp:sp>
    <dsp:sp modelId="{42B998EE-70E6-4E33-86C8-AAAA88AD6B5F}">
      <dsp:nvSpPr>
        <dsp:cNvPr id="0" name=""/>
        <dsp:cNvSpPr/>
      </dsp:nvSpPr>
      <dsp:spPr>
        <a:xfrm>
          <a:off x="0" y="59507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de-DE" sz="1400" kern="1200"/>
            <a:t>KisaanCenter tackles key challenges in India’s agricultural payment ecosystem using innovative digital solutions.</a:t>
          </a:r>
          <a:endParaRPr lang="en-US" sz="1400" kern="1200"/>
        </a:p>
      </dsp:txBody>
      <dsp:txXfrm>
        <a:off x="0" y="595074"/>
        <a:ext cx="3377565" cy="1892815"/>
      </dsp:txXfrm>
    </dsp:sp>
    <dsp:sp modelId="{433AE139-B1C0-4953-9712-89474F30DF68}">
      <dsp:nvSpPr>
        <dsp:cNvPr id="0" name=""/>
        <dsp:cNvSpPr/>
      </dsp:nvSpPr>
      <dsp:spPr>
        <a:xfrm>
          <a:off x="3715321" y="0"/>
          <a:ext cx="3377565" cy="59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de-DE" sz="1800" kern="1200"/>
            <a:t>Enhancing Transparency and Accuracy</a:t>
          </a:r>
          <a:endParaRPr lang="en-US" sz="1800" kern="1200"/>
        </a:p>
      </dsp:txBody>
      <dsp:txXfrm>
        <a:off x="3715321" y="0"/>
        <a:ext cx="3377565" cy="595074"/>
      </dsp:txXfrm>
    </dsp:sp>
    <dsp:sp modelId="{C3F7DD9B-1E9E-412A-AFCC-263EBF0A61CF}">
      <dsp:nvSpPr>
        <dsp:cNvPr id="0" name=""/>
        <dsp:cNvSpPr/>
      </dsp:nvSpPr>
      <dsp:spPr>
        <a:xfrm>
          <a:off x="3715321" y="59507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de-DE" sz="1400" kern="1200"/>
            <a:t>Digital innovation by KisaanCenter increases transparency and accuracy in transactions for all stakeholders.</a:t>
          </a:r>
          <a:endParaRPr lang="en-US" sz="1400" kern="1200"/>
        </a:p>
      </dsp:txBody>
      <dsp:txXfrm>
        <a:off x="3715321" y="595074"/>
        <a:ext cx="3377565" cy="1892815"/>
      </dsp:txXfrm>
    </dsp:sp>
    <dsp:sp modelId="{3AD39444-0136-496E-97D8-27EB22A7DEE5}">
      <dsp:nvSpPr>
        <dsp:cNvPr id="0" name=""/>
        <dsp:cNvSpPr/>
      </dsp:nvSpPr>
      <dsp:spPr>
        <a:xfrm>
          <a:off x="7430643" y="0"/>
          <a:ext cx="3377565" cy="59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de-DE" sz="1800" kern="1200"/>
            <a:t>Building Trust Among Participants</a:t>
          </a:r>
          <a:endParaRPr lang="en-US" sz="1800" kern="1200"/>
        </a:p>
      </dsp:txBody>
      <dsp:txXfrm>
        <a:off x="7430643" y="0"/>
        <a:ext cx="3377565" cy="595074"/>
      </dsp:txXfrm>
    </dsp:sp>
    <dsp:sp modelId="{E2FBBCEC-3D98-4FEE-A31C-F92EBC0228F3}">
      <dsp:nvSpPr>
        <dsp:cNvPr id="0" name=""/>
        <dsp:cNvSpPr/>
      </dsp:nvSpPr>
      <dsp:spPr>
        <a:xfrm>
          <a:off x="7430643" y="59507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de-DE" sz="1400" kern="1200"/>
            <a:t>KisaanCenter fosters trust between farmers, traders, and markets through reliable digital payment methods.</a:t>
          </a:r>
          <a:endParaRPr lang="en-US" sz="1400" kern="1200"/>
        </a:p>
      </dsp:txBody>
      <dsp:txXfrm>
        <a:off x="7430643" y="595074"/>
        <a:ext cx="3377565" cy="189281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E6573-CF7E-4A53-8201-EE76AF42EEA0}" type="datetimeFigureOut">
              <a:rPr lang="de-DE" smtClean="0"/>
              <a:t>25.08.2025</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F726F-61E7-47B4-A87C-226727CA9FCD}" type="slidenum">
              <a:rPr lang="de-DE" smtClean="0"/>
              <a:t>‹#›</a:t>
            </a:fld>
            <a:endParaRPr lang="de-DE"/>
          </a:p>
        </p:txBody>
      </p:sp>
    </p:spTree>
    <p:extLst>
      <p:ext uri="{BB962C8B-B14F-4D97-AF65-F5344CB8AC3E}">
        <p14:creationId xmlns:p14="http://schemas.microsoft.com/office/powerpoint/2010/main" val="349342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AI-generated content may be incorrect.
---
This presentation explores how KisaanCenter tackles the complex challenges in India’s agricultural market payment systems. We'll examine traditional payment flows, key pain points, seasonal challenges, and the innovative solutions provided by KisaanCenter.
</a:t>
            </a:r>
          </a:p>
        </p:txBody>
      </p:sp>
      <p:sp>
        <p:nvSpPr>
          <p:cNvPr id="4" name="Slide Number Placeholder 3"/>
          <p:cNvSpPr>
            <a:spLocks noGrp="1"/>
          </p:cNvSpPr>
          <p:nvPr>
            <p:ph type="sldNum" sz="quarter" idx="5"/>
          </p:nvPr>
        </p:nvSpPr>
        <p:spPr/>
        <p:txBody>
          <a:bodyPr/>
          <a:lstStyle/>
          <a:p>
            <a:fld id="{6E5DADD4-6101-4A8E-A319-8ACEA7674CD4}" type="slidenum">
              <a:rPr lang="de-DE" smtClean="0"/>
              <a:t>1</a:t>
            </a:fld>
            <a:endParaRPr lang="de-DE"/>
          </a:p>
        </p:txBody>
      </p:sp>
    </p:spTree>
    <p:extLst>
      <p:ext uri="{BB962C8B-B14F-4D97-AF65-F5344CB8AC3E}">
        <p14:creationId xmlns:p14="http://schemas.microsoft.com/office/powerpoint/2010/main" val="1317857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Image source: Microsoft 365 content library
Products are listed for sale, and buyers make purchases with every transaction recorded. Shops receive payment immediately or with delay, after which commissions are calculated. Farmers request their payments and shops pay them, ensuring all payments are logged. Comprehensive audit logs track every change, guaranteeing transparency throughout the process.</a:t>
            </a:r>
          </a:p>
        </p:txBody>
      </p:sp>
      <p:sp>
        <p:nvSpPr>
          <p:cNvPr id="4" name="Slide Number Placeholder 3"/>
          <p:cNvSpPr>
            <a:spLocks noGrp="1"/>
          </p:cNvSpPr>
          <p:nvPr>
            <p:ph type="sldNum" sz="quarter" idx="5"/>
          </p:nvPr>
        </p:nvSpPr>
        <p:spPr/>
        <p:txBody>
          <a:bodyPr/>
          <a:lstStyle/>
          <a:p>
            <a:fld id="{49EF726F-61E7-47B4-A87C-226727CA9FCD}" type="slidenum">
              <a:rPr lang="de-DE" smtClean="0"/>
              <a:t>2</a:t>
            </a:fld>
            <a:endParaRPr lang="de-DE"/>
          </a:p>
        </p:txBody>
      </p:sp>
    </p:spTree>
    <p:extLst>
      <p:ext uri="{BB962C8B-B14F-4D97-AF65-F5344CB8AC3E}">
        <p14:creationId xmlns:p14="http://schemas.microsoft.com/office/powerpoint/2010/main" val="2145167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Image source: Microsoft 365 content library
KisaanCenter saves time and reduces errors for shop owners, while building trust with farmers and buyers. The platform scales seamlessly with market growth, supports dispute resolution and regulatory compliance, and prepares your business for the future. It's the ideal solution for efficient, transparent agricultural commerce.</a:t>
            </a:r>
          </a:p>
        </p:txBody>
      </p:sp>
      <p:sp>
        <p:nvSpPr>
          <p:cNvPr id="4" name="Slide Number Placeholder 3"/>
          <p:cNvSpPr>
            <a:spLocks noGrp="1"/>
          </p:cNvSpPr>
          <p:nvPr>
            <p:ph type="sldNum" sz="quarter" idx="5"/>
          </p:nvPr>
        </p:nvSpPr>
        <p:spPr/>
        <p:txBody>
          <a:bodyPr/>
          <a:lstStyle/>
          <a:p>
            <a:fld id="{49EF726F-61E7-47B4-A87C-226727CA9FCD}" type="slidenum">
              <a:rPr lang="de-DE" smtClean="0"/>
              <a:t>3</a:t>
            </a:fld>
            <a:endParaRPr lang="de-DE"/>
          </a:p>
        </p:txBody>
      </p:sp>
    </p:spTree>
    <p:extLst>
      <p:ext uri="{BB962C8B-B14F-4D97-AF65-F5344CB8AC3E}">
        <p14:creationId xmlns:p14="http://schemas.microsoft.com/office/powerpoint/2010/main" val="2270508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Image source: Microsoft 365 content library
KisaanCenter revolutionizes farm transactions with automated record-keeping, replacing paper ledgers with digital dashboards. It offers transparent payments, allowing instant access to transactions and outstanding credits. Built-in audit logs simplify dispute resolution, while credit management tools automate reminders and reduce defaults. KisaanCenter supports scalable operations and multi-shop oversight, enabling farmers to track all sales and payments. Visual workflows streamline stock recording and net quantity calculation.</a:t>
            </a:r>
          </a:p>
        </p:txBody>
      </p:sp>
      <p:sp>
        <p:nvSpPr>
          <p:cNvPr id="4" name="Slide Number Placeholder 3"/>
          <p:cNvSpPr>
            <a:spLocks noGrp="1"/>
          </p:cNvSpPr>
          <p:nvPr>
            <p:ph type="sldNum" sz="quarter" idx="5"/>
          </p:nvPr>
        </p:nvSpPr>
        <p:spPr/>
        <p:txBody>
          <a:bodyPr/>
          <a:lstStyle/>
          <a:p>
            <a:fld id="{49EF726F-61E7-47B4-A87C-226727CA9FCD}" type="slidenum">
              <a:rPr lang="de-DE" smtClean="0"/>
              <a:t>4</a:t>
            </a:fld>
            <a:endParaRPr lang="de-DE"/>
          </a:p>
        </p:txBody>
      </p:sp>
    </p:spTree>
    <p:extLst>
      <p:ext uri="{BB962C8B-B14F-4D97-AF65-F5344CB8AC3E}">
        <p14:creationId xmlns:p14="http://schemas.microsoft.com/office/powerpoint/2010/main" val="2368079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Today, we will cover the traditional market payment system, the main challenges faced by market participants, issues during peak seasons and festivals, and how KisaanCenter offers effective solutions to improve the agricultural ecosystem.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5</a:t>
            </a:fld>
            <a:endParaRPr lang="de-DE"/>
          </a:p>
        </p:txBody>
      </p:sp>
    </p:spTree>
    <p:extLst>
      <p:ext uri="{BB962C8B-B14F-4D97-AF65-F5344CB8AC3E}">
        <p14:creationId xmlns:p14="http://schemas.microsoft.com/office/powerpoint/2010/main" val="3991678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The traditional payment system in Indian agricultural markets is complex, involving multiple parties such as farmers, shop owners, and buyers, with commissions and payment delays impacting cash flow and relationships.</a:t>
            </a:r>
          </a:p>
        </p:txBody>
      </p:sp>
      <p:sp>
        <p:nvSpPr>
          <p:cNvPr id="4" name="Slide Number Placeholder 3"/>
          <p:cNvSpPr>
            <a:spLocks noGrp="1"/>
          </p:cNvSpPr>
          <p:nvPr>
            <p:ph type="sldNum" sz="quarter" idx="5"/>
          </p:nvPr>
        </p:nvSpPr>
        <p:spPr/>
        <p:txBody>
          <a:bodyPr/>
          <a:lstStyle/>
          <a:p>
            <a:fld id="{6E5DADD4-6101-4A8E-A319-8ACEA7674CD4}" type="slidenum">
              <a:rPr lang="de-DE" smtClean="0"/>
              <a:t>6</a:t>
            </a:fld>
            <a:endParaRPr lang="de-DE"/>
          </a:p>
        </p:txBody>
      </p:sp>
    </p:spTree>
    <p:extLst>
      <p:ext uri="{BB962C8B-B14F-4D97-AF65-F5344CB8AC3E}">
        <p14:creationId xmlns:p14="http://schemas.microsoft.com/office/powerpoint/2010/main" val="2762245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Transactions typically involve farmers selling produce to shop owners, who then sell to buyers. This multi-step process can lead to payment delays and disputes due to the absence of streamlined tracking mechanisms.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7</a:t>
            </a:fld>
            <a:endParaRPr lang="de-DE"/>
          </a:p>
        </p:txBody>
      </p:sp>
    </p:spTree>
    <p:extLst>
      <p:ext uri="{BB962C8B-B14F-4D97-AF65-F5344CB8AC3E}">
        <p14:creationId xmlns:p14="http://schemas.microsoft.com/office/powerpoint/2010/main" val="77482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Commissions are often negotiated informally, and delays in payments are common. These delays affect liquidity for farmers and shop owners, sometimes straining their business relationships and operational stability.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8</a:t>
            </a:fld>
            <a:endParaRPr lang="de-DE"/>
          </a:p>
        </p:txBody>
      </p:sp>
    </p:spTree>
    <p:extLst>
      <p:ext uri="{BB962C8B-B14F-4D97-AF65-F5344CB8AC3E}">
        <p14:creationId xmlns:p14="http://schemas.microsoft.com/office/powerpoint/2010/main" val="2881784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Payment delays and opaque commission structures create cash flow uncertainties and mistrust among participants, which can hinder smooth market operations and growth opportunities.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9</a:t>
            </a:fld>
            <a:endParaRPr lang="de-DE"/>
          </a:p>
        </p:txBody>
      </p:sp>
    </p:spTree>
    <p:extLst>
      <p:ext uri="{BB962C8B-B14F-4D97-AF65-F5344CB8AC3E}">
        <p14:creationId xmlns:p14="http://schemas.microsoft.com/office/powerpoint/2010/main" val="42442492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Market participants face numerous challenges including manual record-keeping, delayed and fragmented payments, as well as disputes and credit risks that complicate daily business activities.</a:t>
            </a:r>
          </a:p>
        </p:txBody>
      </p:sp>
      <p:sp>
        <p:nvSpPr>
          <p:cNvPr id="4" name="Slide Number Placeholder 3"/>
          <p:cNvSpPr>
            <a:spLocks noGrp="1"/>
          </p:cNvSpPr>
          <p:nvPr>
            <p:ph type="sldNum" sz="quarter" idx="5"/>
          </p:nvPr>
        </p:nvSpPr>
        <p:spPr/>
        <p:txBody>
          <a:bodyPr/>
          <a:lstStyle/>
          <a:p>
            <a:fld id="{6E5DADD4-6101-4A8E-A319-8ACEA7674CD4}" type="slidenum">
              <a:rPr lang="de-DE" smtClean="0"/>
              <a:t>10</a:t>
            </a:fld>
            <a:endParaRPr lang="de-DE"/>
          </a:p>
        </p:txBody>
      </p:sp>
    </p:spTree>
    <p:extLst>
      <p:ext uri="{BB962C8B-B14F-4D97-AF65-F5344CB8AC3E}">
        <p14:creationId xmlns:p14="http://schemas.microsoft.com/office/powerpoint/2010/main" val="2847818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Most records are maintained manually, leading to errors, loss of data, and difficulties in tracking transactions accurately, which increases the risk of disputes and financial losses.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11</a:t>
            </a:fld>
            <a:endParaRPr lang="de-DE"/>
          </a:p>
        </p:txBody>
      </p:sp>
    </p:spTree>
    <p:extLst>
      <p:ext uri="{BB962C8B-B14F-4D97-AF65-F5344CB8AC3E}">
        <p14:creationId xmlns:p14="http://schemas.microsoft.com/office/powerpoint/2010/main" val="3754234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Fragmented and postponed payments disrupt cash flow, forcing farmers and shop owners to seek credit or delay their own payments, impacting sustainability and trust within the market ecosystem.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12</a:t>
            </a:fld>
            <a:endParaRPr lang="de-DE"/>
          </a:p>
        </p:txBody>
      </p:sp>
    </p:spTree>
    <p:extLst>
      <p:ext uri="{BB962C8B-B14F-4D97-AF65-F5344CB8AC3E}">
        <p14:creationId xmlns:p14="http://schemas.microsoft.com/office/powerpoint/2010/main" val="1505734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Errors in records and delayed payments often lead to disputes. Credit risks arise when shop owners extend unregulated credit to farmers, exposing both parties to financial uncertainties.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13</a:t>
            </a:fld>
            <a:endParaRPr lang="de-DE"/>
          </a:p>
        </p:txBody>
      </p:sp>
    </p:spTree>
    <p:extLst>
      <p:ext uri="{BB962C8B-B14F-4D97-AF65-F5344CB8AC3E}">
        <p14:creationId xmlns:p14="http://schemas.microsoft.com/office/powerpoint/2010/main" val="849646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Peak seasons and festivals intensify transaction volumes and complexities, overwhelming manual systems and escalating error rates and payment challenges.</a:t>
            </a:r>
          </a:p>
        </p:txBody>
      </p:sp>
      <p:sp>
        <p:nvSpPr>
          <p:cNvPr id="4" name="Slide Number Placeholder 3"/>
          <p:cNvSpPr>
            <a:spLocks noGrp="1"/>
          </p:cNvSpPr>
          <p:nvPr>
            <p:ph type="sldNum" sz="quarter" idx="5"/>
          </p:nvPr>
        </p:nvSpPr>
        <p:spPr/>
        <p:txBody>
          <a:bodyPr/>
          <a:lstStyle/>
          <a:p>
            <a:fld id="{6E5DADD4-6101-4A8E-A319-8ACEA7674CD4}" type="slidenum">
              <a:rPr lang="de-DE" smtClean="0"/>
              <a:t>14</a:t>
            </a:fld>
            <a:endParaRPr lang="de-DE"/>
          </a:p>
        </p:txBody>
      </p:sp>
    </p:spTree>
    <p:extLst>
      <p:ext uri="{BB962C8B-B14F-4D97-AF65-F5344CB8AC3E}">
        <p14:creationId xmlns:p14="http://schemas.microsoft.com/office/powerpoint/2010/main" val="3096789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During peak times, the number of transactions rises sharply, complicating payment tracking and record management, which often leads to bottlenecks and inefficiencies.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15</a:t>
            </a:fld>
            <a:endParaRPr lang="de-DE"/>
          </a:p>
        </p:txBody>
      </p:sp>
    </p:spTree>
    <p:extLst>
      <p:ext uri="{BB962C8B-B14F-4D97-AF65-F5344CB8AC3E}">
        <p14:creationId xmlns:p14="http://schemas.microsoft.com/office/powerpoint/2010/main" val="2646510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Manual processes become inadequate under high transaction loads, resulting in more frequent errors, lost records, and confusion among market participants.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16</a:t>
            </a:fld>
            <a:endParaRPr lang="de-DE"/>
          </a:p>
        </p:txBody>
      </p:sp>
    </p:spTree>
    <p:extLst>
      <p:ext uri="{BB962C8B-B14F-4D97-AF65-F5344CB8AC3E}">
        <p14:creationId xmlns:p14="http://schemas.microsoft.com/office/powerpoint/2010/main" val="3617206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For instance, during harvest festivals, delayed payments and inaccurate records commonly lead to disputes, delayed settlements, and increased credit risks, hurting farmers' income and shop owners’ operations.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17</a:t>
            </a:fld>
            <a:endParaRPr lang="de-DE"/>
          </a:p>
        </p:txBody>
      </p:sp>
    </p:spTree>
    <p:extLst>
      <p:ext uri="{BB962C8B-B14F-4D97-AF65-F5344CB8AC3E}">
        <p14:creationId xmlns:p14="http://schemas.microsoft.com/office/powerpoint/2010/main" val="1696111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KisaanCenter offers a digital platform designed to address payment and record-keeping challenges with transparency, accuracy, and efficiency tailored for India’s agricultural markets.</a:t>
            </a:r>
          </a:p>
        </p:txBody>
      </p:sp>
      <p:sp>
        <p:nvSpPr>
          <p:cNvPr id="4" name="Slide Number Placeholder 3"/>
          <p:cNvSpPr>
            <a:spLocks noGrp="1"/>
          </p:cNvSpPr>
          <p:nvPr>
            <p:ph type="sldNum" sz="quarter" idx="5"/>
          </p:nvPr>
        </p:nvSpPr>
        <p:spPr/>
        <p:txBody>
          <a:bodyPr/>
          <a:lstStyle/>
          <a:p>
            <a:fld id="{6E5DADD4-6101-4A8E-A319-8ACEA7674CD4}" type="slidenum">
              <a:rPr lang="de-DE" smtClean="0"/>
              <a:t>18</a:t>
            </a:fld>
            <a:endParaRPr lang="de-DE"/>
          </a:p>
        </p:txBody>
      </p:sp>
    </p:spTree>
    <p:extLst>
      <p:ext uri="{BB962C8B-B14F-4D97-AF65-F5344CB8AC3E}">
        <p14:creationId xmlns:p14="http://schemas.microsoft.com/office/powerpoint/2010/main" val="37294354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By digitizing records, KisaanCenter ensures accurate, real-time data on transactions, reducing errors and fostering trust among farmers, shop owners, and buyers.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19</a:t>
            </a:fld>
            <a:endParaRPr lang="de-DE"/>
          </a:p>
        </p:txBody>
      </p:sp>
    </p:spTree>
    <p:extLst>
      <p:ext uri="{BB962C8B-B14F-4D97-AF65-F5344CB8AC3E}">
        <p14:creationId xmlns:p14="http://schemas.microsoft.com/office/powerpoint/2010/main" val="22676394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The platform facilitates timely payments with clear tracking, minimizing delays and fragmentation, thus improving cash flow and strengthening business relationships.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20</a:t>
            </a:fld>
            <a:endParaRPr lang="de-DE"/>
          </a:p>
        </p:txBody>
      </p:sp>
    </p:spTree>
    <p:extLst>
      <p:ext uri="{BB962C8B-B14F-4D97-AF65-F5344CB8AC3E}">
        <p14:creationId xmlns:p14="http://schemas.microsoft.com/office/powerpoint/2010/main" val="792442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
---
KisaanCenter provides specialized tools to manage commission calculations, credit limits, and dispute resolution systematically, reducing risks and enhancing operational efficiency.
Image source: Microsoft 365 content library
</a:t>
            </a:r>
          </a:p>
        </p:txBody>
      </p:sp>
      <p:sp>
        <p:nvSpPr>
          <p:cNvPr id="4" name="Slide Number Placeholder 3"/>
          <p:cNvSpPr>
            <a:spLocks noGrp="1"/>
          </p:cNvSpPr>
          <p:nvPr>
            <p:ph type="sldNum" sz="quarter" idx="5"/>
          </p:nvPr>
        </p:nvSpPr>
        <p:spPr/>
        <p:txBody>
          <a:bodyPr/>
          <a:lstStyle/>
          <a:p>
            <a:fld id="{6E5DADD4-6101-4A8E-A319-8ACEA7674CD4}" type="slidenum">
              <a:rPr lang="de-DE" smtClean="0"/>
              <a:t>21</a:t>
            </a:fld>
            <a:endParaRPr lang="de-DE"/>
          </a:p>
        </p:txBody>
      </p:sp>
    </p:spTree>
    <p:extLst>
      <p:ext uri="{BB962C8B-B14F-4D97-AF65-F5344CB8AC3E}">
        <p14:creationId xmlns:p14="http://schemas.microsoft.com/office/powerpoint/2010/main" val="21077112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a:t>KisaanCenter effectively addresses the real-world challenges in India’s agricultural market payment ecosystem through digital innovation, improving transparency, accuracy, and trust to benefit all participants.</a:t>
            </a:r>
          </a:p>
        </p:txBody>
      </p:sp>
      <p:sp>
        <p:nvSpPr>
          <p:cNvPr id="4" name="Slide Number Placeholder 3"/>
          <p:cNvSpPr>
            <a:spLocks noGrp="1"/>
          </p:cNvSpPr>
          <p:nvPr>
            <p:ph type="sldNum" sz="quarter" idx="5"/>
          </p:nvPr>
        </p:nvSpPr>
        <p:spPr/>
        <p:txBody>
          <a:bodyPr/>
          <a:lstStyle/>
          <a:p>
            <a:fld id="{6E5DADD4-6101-4A8E-A319-8ACEA7674CD4}" type="slidenum">
              <a:rPr lang="de-DE" smtClean="0"/>
              <a:t>22</a:t>
            </a:fld>
            <a:endParaRPr lang="de-DE"/>
          </a:p>
        </p:txBody>
      </p:sp>
    </p:spTree>
    <p:extLst>
      <p:ext uri="{BB962C8B-B14F-4D97-AF65-F5344CB8AC3E}">
        <p14:creationId xmlns:p14="http://schemas.microsoft.com/office/powerpoint/2010/main" val="2019527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8/25/2025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09508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8/25/2025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77685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8/25/2025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8667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8/25/2025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78877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8/25/2025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1177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8/25/2025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020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8/25/2025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72666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8/25/2025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23462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8/25/2025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99872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8/25/2025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9359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8/25/2025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6660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8/25/2025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0829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0DEAC3-93FC-49DC-4783-61C83A6BBF63}"/>
              </a:ext>
            </a:extLst>
          </p:cNvPr>
          <p:cNvSpPr>
            <a:spLocks noGrp="1"/>
          </p:cNvSpPr>
          <p:nvPr>
            <p:ph type="ctrTitle"/>
          </p:nvPr>
        </p:nvSpPr>
        <p:spPr>
          <a:xfrm>
            <a:off x="1946564" y="1249217"/>
            <a:ext cx="8298873" cy="2258284"/>
          </a:xfrm>
        </p:spPr>
        <p:txBody>
          <a:bodyPr anchor="b">
            <a:normAutofit/>
          </a:bodyPr>
          <a:lstStyle/>
          <a:p>
            <a:pPr algn="ctr">
              <a:lnSpc>
                <a:spcPct val="90000"/>
              </a:lnSpc>
            </a:pPr>
            <a:r>
              <a:rPr lang="de-DE" sz="4100"/>
              <a:t>KisaanCenter: Addressing Real-World Market Challenges in India’s Agricultural Ecosystem</a:t>
            </a:r>
          </a:p>
        </p:txBody>
      </p:sp>
      <p:sp>
        <p:nvSpPr>
          <p:cNvPr id="3" name="Subtitle 2">
            <a:extLst>
              <a:ext uri="{FF2B5EF4-FFF2-40B4-BE49-F238E27FC236}">
                <a16:creationId xmlns:a16="http://schemas.microsoft.com/office/drawing/2014/main" id="{69BB3E72-E4E9-1A86-8740-9BC3DF2ED5AF}"/>
              </a:ext>
            </a:extLst>
          </p:cNvPr>
          <p:cNvSpPr>
            <a:spLocks noGrp="1"/>
          </p:cNvSpPr>
          <p:nvPr>
            <p:ph type="subTitle" idx="1"/>
          </p:nvPr>
        </p:nvSpPr>
        <p:spPr>
          <a:xfrm>
            <a:off x="1946564" y="4490100"/>
            <a:ext cx="8298873" cy="1282843"/>
          </a:xfrm>
        </p:spPr>
        <p:txBody>
          <a:bodyPr anchor="t">
            <a:normAutofit/>
          </a:bodyPr>
          <a:lstStyle/>
          <a:p>
            <a:pPr algn="ctr"/>
            <a:r>
              <a:rPr lang="de-DE" sz="2400"/>
              <a:t>Innovative solutions for India's agricultural payment systems</a:t>
            </a:r>
          </a:p>
        </p:txBody>
      </p:sp>
      <p:cxnSp>
        <p:nvCxnSpPr>
          <p:cNvPr id="10" name="Straight Connector 9">
            <a:extLst>
              <a:ext uri="{FF2B5EF4-FFF2-40B4-BE49-F238E27FC236}">
                <a16:creationId xmlns:a16="http://schemas.microsoft.com/office/drawing/2014/main" id="{5E10C1D6-7EDE-467F-89EA-E0244EB623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30240" y="4290504"/>
            <a:ext cx="73152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482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384B5BE-2ED9-56E4-1F29-61AC789BB38D}"/>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How KisaanCenter Works</a:t>
            </a:r>
          </a:p>
        </p:txBody>
      </p:sp>
      <p:pic>
        <p:nvPicPr>
          <p:cNvPr id="5" name="Content Placeholder 4" descr="Advertising Survey">
            <a:extLst>
              <a:ext uri="{FF2B5EF4-FFF2-40B4-BE49-F238E27FC236}">
                <a16:creationId xmlns:a16="http://schemas.microsoft.com/office/drawing/2014/main" id="{11B37F3F-5756-49DD-975D-557C63F47D65}"/>
              </a:ext>
            </a:extLst>
          </p:cNvPr>
          <p:cNvPicPr>
            <a:picLocks noGrp="1" noChangeAspect="1"/>
          </p:cNvPicPr>
          <p:nvPr>
            <p:ph sz="half" idx="1"/>
          </p:nvPr>
        </p:nvPicPr>
        <p:blipFill>
          <a:blip r:embed="rId3"/>
          <a:srcRect l="6475" r="4024" b="1"/>
          <a:stretch>
            <a:fillRect/>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4803463-7A47-E4E7-6765-CC263269096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Product Listings and Purchases</a:t>
            </a:r>
          </a:p>
          <a:p>
            <a:pPr marL="0" lvl="1" indent="0">
              <a:buNone/>
            </a:pPr>
            <a:r>
              <a:rPr lang="en-US" sz="1400"/>
              <a:t>Products are listed for sale and buyers place orders, with every transaction carefully recorded for tracking and transparency.</a:t>
            </a:r>
          </a:p>
          <a:p>
            <a:pPr marL="0" indent="0">
              <a:spcBef>
                <a:spcPts val="2500"/>
              </a:spcBef>
              <a:buNone/>
            </a:pPr>
            <a:r>
              <a:rPr lang="en-US" sz="1400" b="1"/>
              <a:t>Payment and Commission Process</a:t>
            </a:r>
          </a:p>
          <a:p>
            <a:pPr marL="0" lvl="1" indent="0">
              <a:buNone/>
            </a:pPr>
            <a:r>
              <a:rPr lang="en-US" sz="1400"/>
              <a:t>Shops receive payments either instantly or after a delay, then commissions are calculated based on the transactions.</a:t>
            </a:r>
          </a:p>
          <a:p>
            <a:pPr marL="0" indent="0">
              <a:spcBef>
                <a:spcPts val="2500"/>
              </a:spcBef>
              <a:buNone/>
            </a:pPr>
            <a:r>
              <a:rPr lang="en-US" sz="1400" b="1"/>
              <a:t>Farmer Payment Requests</a:t>
            </a:r>
          </a:p>
          <a:p>
            <a:pPr marL="0" lvl="1" indent="0">
              <a:buNone/>
            </a:pPr>
            <a:r>
              <a:rPr lang="en-US" sz="1400"/>
              <a:t>Farmers request their payments, which are then processed by shops with every payment being properly logged.</a:t>
            </a:r>
          </a:p>
          <a:p>
            <a:pPr marL="0" indent="0">
              <a:spcBef>
                <a:spcPts val="2500"/>
              </a:spcBef>
              <a:buNone/>
            </a:pPr>
            <a:r>
              <a:rPr lang="en-US" sz="1400" b="1"/>
              <a:t>Comprehensive Audit Logs</a:t>
            </a:r>
          </a:p>
          <a:p>
            <a:pPr marL="0" lvl="1" indent="0">
              <a:buNone/>
            </a:pPr>
            <a:r>
              <a:rPr lang="en-US" sz="1400"/>
              <a:t>Every action and financial transaction is recorded in detailed audit logs, ensuring complete transparency throughout the process.</a:t>
            </a:r>
            <a:endParaRPr lang="de-DE" sz="1400"/>
          </a:p>
        </p:txBody>
      </p:sp>
    </p:spTree>
    <p:extLst>
      <p:ext uri="{BB962C8B-B14F-4D97-AF65-F5344CB8AC3E}">
        <p14:creationId xmlns:p14="http://schemas.microsoft.com/office/powerpoint/2010/main" val="75946799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6D71B6-574D-9FC2-06A7-4DB693377582}"/>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a:t>Why Choose KisaanCenter?</a:t>
            </a:r>
          </a:p>
        </p:txBody>
      </p:sp>
      <p:sp>
        <p:nvSpPr>
          <p:cNvPr id="4" name="Content Placeholder 3">
            <a:extLst>
              <a:ext uri="{FF2B5EF4-FFF2-40B4-BE49-F238E27FC236}">
                <a16:creationId xmlns:a16="http://schemas.microsoft.com/office/drawing/2014/main" id="{DED28CF5-F039-A743-91FD-05A13A7D589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Efficient and Error-Free Operations</a:t>
            </a:r>
          </a:p>
          <a:p>
            <a:pPr marL="0" lvl="1" indent="0">
              <a:buNone/>
            </a:pPr>
            <a:r>
              <a:rPr lang="en-US" sz="1400"/>
              <a:t>KisaanCenter streamlines business processes, saving time and reducing operational errors for shop owners in agricultural commerce.</a:t>
            </a:r>
          </a:p>
          <a:p>
            <a:pPr marL="0" indent="0">
              <a:spcBef>
                <a:spcPts val="2500"/>
              </a:spcBef>
              <a:buNone/>
            </a:pPr>
            <a:r>
              <a:rPr lang="en-US" sz="1400" b="1"/>
              <a:t>Building Trust and Transparency</a:t>
            </a:r>
          </a:p>
          <a:p>
            <a:pPr marL="0" lvl="1" indent="0">
              <a:buNone/>
            </a:pPr>
            <a:r>
              <a:rPr lang="en-US" sz="1400"/>
              <a:t>The platform facilitates transparent transactions, fostering trust among farmers, buyers, and shop owners for lasting business relationships.</a:t>
            </a:r>
          </a:p>
          <a:p>
            <a:pPr marL="0" indent="0">
              <a:spcBef>
                <a:spcPts val="2500"/>
              </a:spcBef>
              <a:buNone/>
            </a:pPr>
            <a:r>
              <a:rPr lang="en-US" sz="1400" b="1"/>
              <a:t>Scalability and Compliance Support</a:t>
            </a:r>
          </a:p>
          <a:p>
            <a:pPr marL="0" lvl="1" indent="0">
              <a:buNone/>
            </a:pPr>
            <a:r>
              <a:rPr lang="en-US" sz="1400"/>
              <a:t>KisaanCenter scales with market growth, supports dispute resolution, and ensures regulatory compliance, future-proofing your business.</a:t>
            </a:r>
            <a:endParaRPr lang="de-DE" sz="1400"/>
          </a:p>
        </p:txBody>
      </p:sp>
      <p:pic>
        <p:nvPicPr>
          <p:cNvPr id="5" name="Content Placeholder 4" descr="Healthy vegetables in a diagonal layout. Cucumbers and tomatoes in a wooden crate. blue background. Half of the image is blank for copy space. Healthy vegan diet concept. horizontal">
            <a:extLst>
              <a:ext uri="{FF2B5EF4-FFF2-40B4-BE49-F238E27FC236}">
                <a16:creationId xmlns:a16="http://schemas.microsoft.com/office/drawing/2014/main" id="{8D2E5A87-5F35-42BE-AF8E-50E165E77603}"/>
              </a:ext>
            </a:extLst>
          </p:cNvPr>
          <p:cNvPicPr>
            <a:picLocks noGrp="1" noChangeAspect="1"/>
          </p:cNvPicPr>
          <p:nvPr>
            <p:ph sz="half" idx="1"/>
          </p:nvPr>
        </p:nvPicPr>
        <p:blipFill>
          <a:blip r:embed="rId3"/>
          <a:srcRect l="2938" r="42056"/>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650473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BD2778F3-0199-7F50-82F4-C02F54CC7028}"/>
              </a:ext>
            </a:extLst>
          </p:cNvPr>
          <p:cNvSpPr>
            <a:spLocks noGrp="1"/>
          </p:cNvSpPr>
          <p:nvPr>
            <p:ph type="title"/>
          </p:nvPr>
        </p:nvSpPr>
        <p:spPr>
          <a:xfrm>
            <a:off x="640080" y="914401"/>
            <a:ext cx="4306824" cy="1477817"/>
          </a:xfrm>
        </p:spPr>
        <p:txBody>
          <a:bodyPr vert="horz" lIns="91440" tIns="45720" rIns="91440" bIns="45720" rtlCol="0" anchor="t">
            <a:normAutofit/>
          </a:bodyPr>
          <a:lstStyle/>
          <a:p>
            <a:r>
              <a:rPr lang="en-US"/>
              <a:t>Empowering Farmers Digitally</a:t>
            </a:r>
          </a:p>
        </p:txBody>
      </p:sp>
      <p:pic>
        <p:nvPicPr>
          <p:cNvPr id="5" name="Content Placeholder 4" descr="Woman harvesting tomatoes in greenhouse using digital tablet">
            <a:extLst>
              <a:ext uri="{FF2B5EF4-FFF2-40B4-BE49-F238E27FC236}">
                <a16:creationId xmlns:a16="http://schemas.microsoft.com/office/drawing/2014/main" id="{49CA65B8-C545-48E3-9EA3-073B2674A53A}"/>
              </a:ext>
            </a:extLst>
          </p:cNvPr>
          <p:cNvPicPr>
            <a:picLocks noGrp="1" noChangeAspect="1"/>
          </p:cNvPicPr>
          <p:nvPr>
            <p:ph sz="half" idx="1"/>
          </p:nvPr>
        </p:nvPicPr>
        <p:blipFill>
          <a:blip r:embed="rId3"/>
          <a:srcRect l="10498" r="1" b="1"/>
          <a:stretch>
            <a:fillRect/>
          </a:stretch>
        </p:blipFill>
        <p:spPr>
          <a:xfrm>
            <a:off x="1" y="2613892"/>
            <a:ext cx="4946906" cy="3689359"/>
          </a:xfrm>
          <a:prstGeom prst="rect">
            <a:avLst/>
          </a:prstGeom>
        </p:spPr>
      </p:pic>
      <p:cxnSp>
        <p:nvCxnSpPr>
          <p:cNvPr id="14" name="Straight Connector 13">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6E3D38D8-FF66-FBE4-9164-FF6371B8A77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8" y="1014984"/>
            <a:ext cx="5889161" cy="5288267"/>
          </a:xfrm>
        </p:spPr>
        <p:txBody>
          <a:bodyPr>
            <a:normAutofit/>
          </a:bodyPr>
          <a:lstStyle/>
          <a:p>
            <a:pPr marL="0" indent="0">
              <a:spcBef>
                <a:spcPts val="2500"/>
              </a:spcBef>
              <a:buNone/>
            </a:pPr>
            <a:r>
              <a:rPr lang="en-US" sz="1400" b="1"/>
              <a:t>Automated Digital Record-Keeping</a:t>
            </a:r>
          </a:p>
          <a:p>
            <a:pPr marL="0" lvl="1" indent="0">
              <a:buNone/>
            </a:pPr>
            <a:r>
              <a:rPr lang="en-US" sz="1400"/>
              <a:t>Paper ledgers are replaced by digital dashboards, making farm transaction records easily accessible and much more organized.</a:t>
            </a:r>
          </a:p>
          <a:p>
            <a:pPr marL="0" indent="0">
              <a:spcBef>
                <a:spcPts val="2500"/>
              </a:spcBef>
              <a:buNone/>
            </a:pPr>
            <a:r>
              <a:rPr lang="en-US" sz="1400" b="1"/>
              <a:t>Transparent Payments and Credits</a:t>
            </a:r>
          </a:p>
          <a:p>
            <a:pPr marL="0" lvl="1" indent="0">
              <a:buNone/>
            </a:pPr>
            <a:r>
              <a:rPr lang="en-US" sz="1400"/>
              <a:t>Farmers can instantly view all transactions and outstanding credits, ensuring clarity and financial transparency in operations.</a:t>
            </a:r>
          </a:p>
          <a:p>
            <a:pPr marL="0" indent="0">
              <a:spcBef>
                <a:spcPts val="2500"/>
              </a:spcBef>
              <a:buNone/>
            </a:pPr>
            <a:r>
              <a:rPr lang="en-US" sz="1400" b="1"/>
              <a:t>Simplified Dispute Resolution</a:t>
            </a:r>
          </a:p>
          <a:p>
            <a:pPr marL="0" lvl="1" indent="0">
              <a:buNone/>
            </a:pPr>
            <a:r>
              <a:rPr lang="en-US" sz="1400"/>
              <a:t>Built-in audit logs help resolve disputes quickly and efficiently, improving trust between farmers and buyers.</a:t>
            </a:r>
          </a:p>
          <a:p>
            <a:pPr marL="0" indent="0">
              <a:spcBef>
                <a:spcPts val="2500"/>
              </a:spcBef>
              <a:buNone/>
            </a:pPr>
            <a:r>
              <a:rPr lang="en-US" sz="1400" b="1"/>
              <a:t>Streamlined Stock and Credit Management</a:t>
            </a:r>
          </a:p>
          <a:p>
            <a:pPr marL="0" lvl="1" indent="0">
              <a:buNone/>
            </a:pPr>
            <a:r>
              <a:rPr lang="en-US" sz="1400"/>
              <a:t>Automated reminders and visual workflows reduce defaults, ease stock recording, and track net quantities, boosting efficiency.</a:t>
            </a:r>
            <a:endParaRPr lang="de-DE" sz="1400"/>
          </a:p>
        </p:txBody>
      </p:sp>
    </p:spTree>
    <p:extLst>
      <p:ext uri="{BB962C8B-B14F-4D97-AF65-F5344CB8AC3E}">
        <p14:creationId xmlns:p14="http://schemas.microsoft.com/office/powerpoint/2010/main" val="391237318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9D1B94-0D57-B7A7-C946-36D637595CFC}"/>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3600"/>
              <a:t>Today's Discussion Points</a:t>
            </a:r>
          </a:p>
        </p:txBody>
      </p:sp>
      <p:pic>
        <p:nvPicPr>
          <p:cNvPr id="5" name="Content Placeholder 4" descr="Shot of a young man using a digital tablet while working in a garden">
            <a:extLst>
              <a:ext uri="{FF2B5EF4-FFF2-40B4-BE49-F238E27FC236}">
                <a16:creationId xmlns:a16="http://schemas.microsoft.com/office/drawing/2014/main" id="{6648FF35-E532-41FC-89F7-AC2E4D7FFD5E}"/>
              </a:ext>
            </a:extLst>
          </p:cNvPr>
          <p:cNvPicPr>
            <a:picLocks noGrp="1" noChangeAspect="1"/>
          </p:cNvPicPr>
          <p:nvPr>
            <p:ph sz="half" idx="1"/>
          </p:nvPr>
        </p:nvPicPr>
        <p:blipFill>
          <a:blip r:embed="rId3"/>
          <a:srcRect r="14817"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3253007-22C8-BF91-75CF-E9A693B91A58}"/>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r>
              <a:rPr lang="en-US"/>
              <a:t>Understanding the Traditional Market Payment System</a:t>
            </a:r>
          </a:p>
          <a:p>
            <a:r>
              <a:rPr lang="en-US"/>
              <a:t>Key Pain Points Faced by Market Participants</a:t>
            </a:r>
          </a:p>
          <a:p>
            <a:r>
              <a:rPr lang="en-US"/>
              <a:t>Challenges During Peak Seasons and Festivals</a:t>
            </a:r>
          </a:p>
          <a:p>
            <a:r>
              <a:rPr lang="en-US"/>
              <a:t>How KisaanCenter Provides Solutions</a:t>
            </a:r>
          </a:p>
        </p:txBody>
      </p:sp>
    </p:spTree>
    <p:extLst>
      <p:ext uri="{BB962C8B-B14F-4D97-AF65-F5344CB8AC3E}">
        <p14:creationId xmlns:p14="http://schemas.microsoft.com/office/powerpoint/2010/main" val="33714180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57BC5BD-F38D-C058-6487-40A8B4611F40}"/>
              </a:ext>
            </a:extLst>
          </p:cNvPr>
          <p:cNvSpPr>
            <a:spLocks noGrp="1"/>
          </p:cNvSpPr>
          <p:nvPr>
            <p:ph type="ctrTitle"/>
          </p:nvPr>
        </p:nvSpPr>
        <p:spPr>
          <a:xfrm>
            <a:off x="559219" y="1115844"/>
            <a:ext cx="7680960" cy="4631911"/>
          </a:xfrm>
        </p:spPr>
        <p:txBody>
          <a:bodyPr anchor="b">
            <a:normAutofit/>
          </a:bodyPr>
          <a:lstStyle/>
          <a:p>
            <a:r>
              <a:rPr lang="de-DE" sz="6500"/>
              <a:t>Understanding the Traditional Market Payment System</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111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E5B067-1D3F-272A-701C-4C15722870DA}"/>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300"/>
              <a:t>How Transactions Flow Between Farmers, Shop Owners, and Buyers</a:t>
            </a:r>
          </a:p>
        </p:txBody>
      </p:sp>
      <p:pic>
        <p:nvPicPr>
          <p:cNvPr id="5" name="Content Placeholder 4" descr="Sustainable investment and returns">
            <a:extLst>
              <a:ext uri="{FF2B5EF4-FFF2-40B4-BE49-F238E27FC236}">
                <a16:creationId xmlns:a16="http://schemas.microsoft.com/office/drawing/2014/main" id="{88957BF9-0D47-432D-8000-0DDAC390D7B8}"/>
              </a:ext>
            </a:extLst>
          </p:cNvPr>
          <p:cNvPicPr>
            <a:picLocks noGrp="1" noChangeAspect="1"/>
          </p:cNvPicPr>
          <p:nvPr>
            <p:ph sz="half" idx="1"/>
          </p:nvPr>
        </p:nvPicPr>
        <p:blipFill>
          <a:blip r:embed="rId3"/>
          <a:srcRect l="16994" r="2"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AA0411A2-0348-EF20-0A67-64647023A1B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Multi-step Transaction Process</a:t>
            </a:r>
          </a:p>
          <a:p>
            <a:pPr marL="0" lvl="1" indent="0">
              <a:buNone/>
            </a:pPr>
            <a:r>
              <a:rPr lang="en-US" sz="1400"/>
              <a:t>Farmers sell produce to shop owners, who then sell to buyers in a sequential transaction flow.</a:t>
            </a:r>
          </a:p>
          <a:p>
            <a:pPr marL="0" indent="0">
              <a:spcBef>
                <a:spcPts val="2500"/>
              </a:spcBef>
              <a:buNone/>
            </a:pPr>
            <a:r>
              <a:rPr lang="en-US" sz="1400" b="1"/>
              <a:t>Payment Delays and Disputes</a:t>
            </a:r>
          </a:p>
          <a:p>
            <a:pPr marL="0" lvl="1" indent="0">
              <a:buNone/>
            </a:pPr>
            <a:r>
              <a:rPr lang="en-US" sz="1400"/>
              <a:t>Lack of streamlined tracking can cause payment delays and disputes between parties in the transaction chain.</a:t>
            </a:r>
            <a:endParaRPr lang="de-DE" sz="1400"/>
          </a:p>
        </p:txBody>
      </p:sp>
    </p:spTree>
    <p:extLst>
      <p:ext uri="{BB962C8B-B14F-4D97-AF65-F5344CB8AC3E}">
        <p14:creationId xmlns:p14="http://schemas.microsoft.com/office/powerpoint/2010/main" val="3110289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FFDFEE-E48C-AA76-07AC-7341C856A69B}"/>
              </a:ext>
            </a:extLst>
          </p:cNvPr>
          <p:cNvSpPr>
            <a:spLocks noGrp="1"/>
          </p:cNvSpPr>
          <p:nvPr>
            <p:ph type="title"/>
          </p:nvPr>
        </p:nvSpPr>
        <p:spPr>
          <a:xfrm>
            <a:off x="8719126" y="979051"/>
            <a:ext cx="2811879" cy="1807048"/>
          </a:xfrm>
        </p:spPr>
        <p:txBody>
          <a:bodyPr vert="horz" lIns="91440" tIns="45720" rIns="91440" bIns="45720" rtlCol="0" anchor="b">
            <a:normAutofit/>
          </a:bodyPr>
          <a:lstStyle/>
          <a:p>
            <a:pPr>
              <a:lnSpc>
                <a:spcPct val="90000"/>
              </a:lnSpc>
            </a:pPr>
            <a:r>
              <a:rPr lang="en-US" sz="3100"/>
              <a:t>Role of Commissions and Payment Delays</a:t>
            </a:r>
          </a:p>
        </p:txBody>
      </p:sp>
      <p:pic>
        <p:nvPicPr>
          <p:cNvPr id="5" name="Content Placeholder 4" descr="Growing money">
            <a:extLst>
              <a:ext uri="{FF2B5EF4-FFF2-40B4-BE49-F238E27FC236}">
                <a16:creationId xmlns:a16="http://schemas.microsoft.com/office/drawing/2014/main" id="{57935C11-8CBE-492B-88BC-1F7ED6F23547}"/>
              </a:ext>
            </a:extLst>
          </p:cNvPr>
          <p:cNvPicPr>
            <a:picLocks noGrp="1" noChangeAspect="1"/>
          </p:cNvPicPr>
          <p:nvPr>
            <p:ph sz="half" idx="1"/>
          </p:nvPr>
        </p:nvPicPr>
        <p:blipFill>
          <a:blip r:embed="rId3"/>
          <a:srcRect r="5624" b="-1"/>
          <a:stretch>
            <a:fillRect/>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CCFBBFB-17B2-626E-EFEF-04050905574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lnSpc>
                <a:spcPct val="110000"/>
              </a:lnSpc>
              <a:spcBef>
                <a:spcPts val="2500"/>
              </a:spcBef>
              <a:buNone/>
            </a:pPr>
            <a:r>
              <a:rPr lang="en-US" sz="1200" b="1"/>
              <a:t>Informal Commission Negotiations</a:t>
            </a:r>
          </a:p>
          <a:p>
            <a:pPr marL="0" lvl="1" indent="0">
              <a:lnSpc>
                <a:spcPct val="110000"/>
              </a:lnSpc>
              <a:buNone/>
            </a:pPr>
            <a:r>
              <a:rPr lang="en-US" sz="1200"/>
              <a:t>Commissions between parties are typically negotiated in informal settings without strict contracts.</a:t>
            </a:r>
          </a:p>
          <a:p>
            <a:pPr marL="0" indent="0">
              <a:lnSpc>
                <a:spcPct val="110000"/>
              </a:lnSpc>
              <a:spcBef>
                <a:spcPts val="2500"/>
              </a:spcBef>
              <a:buNone/>
            </a:pPr>
            <a:r>
              <a:rPr lang="en-US" sz="1200" b="1"/>
              <a:t>Payment Delays Impact</a:t>
            </a:r>
          </a:p>
          <a:p>
            <a:pPr marL="0" lvl="1" indent="0">
              <a:lnSpc>
                <a:spcPct val="110000"/>
              </a:lnSpc>
              <a:buNone/>
            </a:pPr>
            <a:r>
              <a:rPr lang="en-US" sz="1200"/>
              <a:t>Delays in payments reduce liquidity for farmers and shop owners, affecting their business operations.</a:t>
            </a:r>
          </a:p>
          <a:p>
            <a:pPr marL="0" indent="0">
              <a:lnSpc>
                <a:spcPct val="110000"/>
              </a:lnSpc>
              <a:spcBef>
                <a:spcPts val="2500"/>
              </a:spcBef>
              <a:buNone/>
            </a:pPr>
            <a:r>
              <a:rPr lang="en-US" sz="1200" b="1"/>
              <a:t>Strained Business Relationships</a:t>
            </a:r>
          </a:p>
          <a:p>
            <a:pPr marL="0" lvl="1" indent="0">
              <a:lnSpc>
                <a:spcPct val="110000"/>
              </a:lnSpc>
              <a:buNone/>
            </a:pPr>
            <a:r>
              <a:rPr lang="en-US" sz="1200"/>
              <a:t>Payment delays can strain relationships between business partners, risking operational stability.</a:t>
            </a:r>
            <a:endParaRPr lang="de-DE" sz="1200"/>
          </a:p>
        </p:txBody>
      </p:sp>
    </p:spTree>
    <p:extLst>
      <p:ext uri="{BB962C8B-B14F-4D97-AF65-F5344CB8AC3E}">
        <p14:creationId xmlns:p14="http://schemas.microsoft.com/office/powerpoint/2010/main" val="19447960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06AAFD-E71F-4DC7-D7B6-EB66BA668560}"/>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Impact on Cash Flow and Business Relationships</a:t>
            </a:r>
          </a:p>
        </p:txBody>
      </p:sp>
      <p:sp>
        <p:nvSpPr>
          <p:cNvPr id="4" name="Content Placeholder 3">
            <a:extLst>
              <a:ext uri="{FF2B5EF4-FFF2-40B4-BE49-F238E27FC236}">
                <a16:creationId xmlns:a16="http://schemas.microsoft.com/office/drawing/2014/main" id="{1C50091F-BB42-0AF6-5E13-EA86160C101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Cash Flow Uncertainties</a:t>
            </a:r>
          </a:p>
          <a:p>
            <a:pPr marL="0" lvl="1" indent="0">
              <a:buNone/>
            </a:pPr>
            <a:r>
              <a:rPr lang="en-US" sz="1400"/>
              <a:t>Delays in payments disrupt cash flow, causing financial instability for businesses and market participants.</a:t>
            </a:r>
          </a:p>
          <a:p>
            <a:pPr marL="0" indent="0">
              <a:spcBef>
                <a:spcPts val="2500"/>
              </a:spcBef>
              <a:buNone/>
            </a:pPr>
            <a:r>
              <a:rPr lang="en-US" sz="1400" b="1"/>
              <a:t>Opaque Commission Structures</a:t>
            </a:r>
          </a:p>
          <a:p>
            <a:pPr marL="0" lvl="1" indent="0">
              <a:buNone/>
            </a:pPr>
            <a:r>
              <a:rPr lang="en-US" sz="1400"/>
              <a:t>Lack of transparency in commissions breeds mistrust and complicates business relationships between participants.</a:t>
            </a:r>
          </a:p>
          <a:p>
            <a:pPr marL="0" indent="0">
              <a:spcBef>
                <a:spcPts val="2500"/>
              </a:spcBef>
              <a:buNone/>
            </a:pPr>
            <a:r>
              <a:rPr lang="en-US" sz="1400" b="1"/>
              <a:t>Impact on Market Growth</a:t>
            </a:r>
          </a:p>
          <a:p>
            <a:pPr marL="0" lvl="1" indent="0">
              <a:buNone/>
            </a:pPr>
            <a:r>
              <a:rPr lang="en-US" sz="1400"/>
              <a:t>Cash flow and trust issues hinder smooth operations, limiting growth opportunities in the market.</a:t>
            </a:r>
            <a:endParaRPr lang="de-DE" sz="1400"/>
          </a:p>
        </p:txBody>
      </p:sp>
      <p:pic>
        <p:nvPicPr>
          <p:cNvPr id="5" name="Content Placeholder 4" descr="Two people, handshake in office, cropped photo.">
            <a:extLst>
              <a:ext uri="{FF2B5EF4-FFF2-40B4-BE49-F238E27FC236}">
                <a16:creationId xmlns:a16="http://schemas.microsoft.com/office/drawing/2014/main" id="{8C07FDA5-0C29-4DF8-B0C6-A56B80AB55B3}"/>
              </a:ext>
            </a:extLst>
          </p:cNvPr>
          <p:cNvPicPr>
            <a:picLocks noGrp="1" noChangeAspect="1"/>
          </p:cNvPicPr>
          <p:nvPr>
            <p:ph sz="half" idx="1"/>
          </p:nvPr>
        </p:nvPicPr>
        <p:blipFill>
          <a:blip r:embed="rId3"/>
          <a:srcRect l="31208" r="13785"/>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81517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705CC45B-8560-52EE-5680-44E128EFE8FA}"/>
              </a:ext>
            </a:extLst>
          </p:cNvPr>
          <p:cNvSpPr>
            <a:spLocks noGrp="1"/>
          </p:cNvSpPr>
          <p:nvPr>
            <p:ph type="ctrTitle"/>
          </p:nvPr>
        </p:nvSpPr>
        <p:spPr>
          <a:xfrm>
            <a:off x="559219" y="1115844"/>
            <a:ext cx="7680960" cy="4631911"/>
          </a:xfrm>
        </p:spPr>
        <p:txBody>
          <a:bodyPr anchor="b">
            <a:normAutofit/>
          </a:bodyPr>
          <a:lstStyle/>
          <a:p>
            <a:r>
              <a:rPr lang="de-DE" sz="6500"/>
              <a:t>Key Pain Points Faced by Market Participants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0130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6B942B-00E5-CCE4-CA09-E3142E87B09E}"/>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Manual Record-Keeping: Limitations and Risks</a:t>
            </a:r>
          </a:p>
        </p:txBody>
      </p:sp>
      <p:sp>
        <p:nvSpPr>
          <p:cNvPr id="4" name="Content Placeholder 3">
            <a:extLst>
              <a:ext uri="{FF2B5EF4-FFF2-40B4-BE49-F238E27FC236}">
                <a16:creationId xmlns:a16="http://schemas.microsoft.com/office/drawing/2014/main" id="{189FE5D6-8AB9-3767-8D7F-5F2C736ED8A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Manual Errors</a:t>
            </a:r>
          </a:p>
          <a:p>
            <a:pPr marL="0" lvl="1" indent="0">
              <a:buNone/>
            </a:pPr>
            <a:r>
              <a:rPr lang="en-US" sz="1400"/>
              <a:t>Manual record-keeping often causes human errors that compromise data accuracy and reliability.</a:t>
            </a:r>
          </a:p>
          <a:p>
            <a:pPr marL="0" indent="0">
              <a:spcBef>
                <a:spcPts val="2500"/>
              </a:spcBef>
              <a:buNone/>
            </a:pPr>
            <a:r>
              <a:rPr lang="en-US" sz="1400" b="1"/>
              <a:t>Data Loss Risks</a:t>
            </a:r>
          </a:p>
          <a:p>
            <a:pPr marL="0" lvl="1" indent="0">
              <a:buNone/>
            </a:pPr>
            <a:r>
              <a:rPr lang="en-US" sz="1400"/>
              <a:t>Physical records are prone to damage or loss, risking critical information being permanently lost.</a:t>
            </a:r>
          </a:p>
          <a:p>
            <a:pPr marL="0" indent="0">
              <a:spcBef>
                <a:spcPts val="2500"/>
              </a:spcBef>
              <a:buNone/>
            </a:pPr>
            <a:r>
              <a:rPr lang="en-US" sz="1400" b="1"/>
              <a:t>Tracking Difficulties</a:t>
            </a:r>
          </a:p>
          <a:p>
            <a:pPr marL="0" lvl="1" indent="0">
              <a:buNone/>
            </a:pPr>
            <a:r>
              <a:rPr lang="en-US" sz="1400"/>
              <a:t>Manual systems make it difficult to track and reconcile transactions efficiently, leading to disputes.</a:t>
            </a:r>
            <a:endParaRPr lang="de-DE" sz="1400"/>
          </a:p>
        </p:txBody>
      </p:sp>
      <p:pic>
        <p:nvPicPr>
          <p:cNvPr id="5" name="Content Placeholder 4" descr="Scanning moving files">
            <a:extLst>
              <a:ext uri="{FF2B5EF4-FFF2-40B4-BE49-F238E27FC236}">
                <a16:creationId xmlns:a16="http://schemas.microsoft.com/office/drawing/2014/main" id="{4E4B8EB2-2592-477A-BEEC-C9F4B044D07A}"/>
              </a:ext>
            </a:extLst>
          </p:cNvPr>
          <p:cNvPicPr>
            <a:picLocks noGrp="1" noChangeAspect="1"/>
          </p:cNvPicPr>
          <p:nvPr>
            <p:ph sz="half" idx="1"/>
          </p:nvPr>
        </p:nvPicPr>
        <p:blipFill>
          <a:blip r:embed="rId3"/>
          <a:srcRect l="22930" r="10733"/>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2656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0AB028-6FE1-C891-CE36-A8BC4D840C0E}"/>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2800"/>
              <a:t>Delayed and Fragmented Payments: Effects on Farmers and Shop Owners</a:t>
            </a:r>
          </a:p>
        </p:txBody>
      </p:sp>
      <p:pic>
        <p:nvPicPr>
          <p:cNvPr id="5" name="Content Placeholder 4" descr="Color image depicting a senior man in his late 60s pushing a shopping cart in the supermarket. He is looking at his shopping list with an expression of worry on his face. Focus is on the man with the supermarket aisle and products on the shelves totally defocused in the background.">
            <a:extLst>
              <a:ext uri="{FF2B5EF4-FFF2-40B4-BE49-F238E27FC236}">
                <a16:creationId xmlns:a16="http://schemas.microsoft.com/office/drawing/2014/main" id="{9224BC6C-9DCA-41DD-8565-9AAB97CBCBA8}"/>
              </a:ext>
            </a:extLst>
          </p:cNvPr>
          <p:cNvPicPr>
            <a:picLocks noGrp="1" noChangeAspect="1"/>
          </p:cNvPicPr>
          <p:nvPr>
            <p:ph sz="half" idx="1"/>
          </p:nvPr>
        </p:nvPicPr>
        <p:blipFill>
          <a:blip r:embed="rId3"/>
          <a:srcRect l="21968" r="16159"/>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E5C295F-853E-4243-E9A1-4FE4893799F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Cash Flow Disruption</a:t>
            </a:r>
          </a:p>
          <a:p>
            <a:pPr marL="0" lvl="1" indent="0">
              <a:buNone/>
            </a:pPr>
            <a:r>
              <a:rPr lang="en-US" sz="1400"/>
              <a:t>Delayed payments cause significant cash flow challenges for farmers and shop owners, hindering their financial stability.</a:t>
            </a:r>
          </a:p>
          <a:p>
            <a:pPr marL="0" indent="0">
              <a:spcBef>
                <a:spcPts val="2500"/>
              </a:spcBef>
              <a:buNone/>
            </a:pPr>
            <a:r>
              <a:rPr lang="en-US" sz="1400" b="1"/>
              <a:t>Credit Dependency</a:t>
            </a:r>
          </a:p>
          <a:p>
            <a:pPr marL="0" lvl="1" indent="0">
              <a:buNone/>
            </a:pPr>
            <a:r>
              <a:rPr lang="en-US" sz="1400"/>
              <a:t>Farmers and shop owners often resort to credit to manage delayed income, increasing their financial burden.</a:t>
            </a:r>
          </a:p>
          <a:p>
            <a:pPr marL="0" indent="0">
              <a:spcBef>
                <a:spcPts val="2500"/>
              </a:spcBef>
              <a:buNone/>
            </a:pPr>
            <a:r>
              <a:rPr lang="en-US" sz="1400" b="1"/>
              <a:t>Market Trust Impact</a:t>
            </a:r>
          </a:p>
          <a:p>
            <a:pPr marL="0" lvl="1" indent="0">
              <a:buNone/>
            </a:pPr>
            <a:r>
              <a:rPr lang="en-US" sz="1400"/>
              <a:t>Payment delays undermine trust and sustainability within the market ecosystem, affecting long-term relationships.</a:t>
            </a:r>
            <a:endParaRPr lang="de-DE" sz="1400"/>
          </a:p>
        </p:txBody>
      </p:sp>
    </p:spTree>
    <p:extLst>
      <p:ext uri="{BB962C8B-B14F-4D97-AF65-F5344CB8AC3E}">
        <p14:creationId xmlns:p14="http://schemas.microsoft.com/office/powerpoint/2010/main" val="1997103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35F035-EA8A-32FA-4DDE-CAAF311973CE}"/>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500"/>
              <a:t>Disputes, Errors, and Credit Risks in Daily Operations</a:t>
            </a:r>
          </a:p>
        </p:txBody>
      </p:sp>
      <p:pic>
        <p:nvPicPr>
          <p:cNvPr id="5" name="Content Placeholder 4" descr="shot of progress report">
            <a:extLst>
              <a:ext uri="{FF2B5EF4-FFF2-40B4-BE49-F238E27FC236}">
                <a16:creationId xmlns:a16="http://schemas.microsoft.com/office/drawing/2014/main" id="{6E6866D4-992C-4CF7-ADF4-36BFBFD4B6FB}"/>
              </a:ext>
            </a:extLst>
          </p:cNvPr>
          <p:cNvPicPr>
            <a:picLocks noGrp="1" noChangeAspect="1"/>
          </p:cNvPicPr>
          <p:nvPr>
            <p:ph sz="half" idx="1"/>
          </p:nvPr>
        </p:nvPicPr>
        <p:blipFill>
          <a:blip r:embed="rId3"/>
          <a:srcRect r="17305"/>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9E697B8-5D5B-A609-EEBF-9B7BE0675A0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Errors Leading to Disputes</a:t>
            </a:r>
          </a:p>
          <a:p>
            <a:pPr marL="0" lvl="1" indent="0">
              <a:buNone/>
            </a:pPr>
            <a:r>
              <a:rPr lang="en-US" sz="1400"/>
              <a:t>Record-keeping mistakes and payment delays commonly cause operational disputes between parties.</a:t>
            </a:r>
          </a:p>
          <a:p>
            <a:pPr marL="0" indent="0">
              <a:spcBef>
                <a:spcPts val="2500"/>
              </a:spcBef>
              <a:buNone/>
            </a:pPr>
            <a:r>
              <a:rPr lang="en-US" sz="1400" b="1"/>
              <a:t>Credit Risks from Unregulated Extensions</a:t>
            </a:r>
          </a:p>
          <a:p>
            <a:pPr marL="0" lvl="1" indent="0">
              <a:buNone/>
            </a:pPr>
            <a:r>
              <a:rPr lang="en-US" sz="1400"/>
              <a:t>Unregulated credit given by shop owners to farmers increases financial uncertainty and risk for both sides.</a:t>
            </a:r>
            <a:endParaRPr lang="de-DE" sz="1400"/>
          </a:p>
        </p:txBody>
      </p:sp>
    </p:spTree>
    <p:extLst>
      <p:ext uri="{BB962C8B-B14F-4D97-AF65-F5344CB8AC3E}">
        <p14:creationId xmlns:p14="http://schemas.microsoft.com/office/powerpoint/2010/main" val="8775647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CFA60E8-7202-4CCF-02B7-6A257BF24E93}"/>
              </a:ext>
            </a:extLst>
          </p:cNvPr>
          <p:cNvSpPr>
            <a:spLocks noGrp="1"/>
          </p:cNvSpPr>
          <p:nvPr>
            <p:ph type="ctrTitle"/>
          </p:nvPr>
        </p:nvSpPr>
        <p:spPr>
          <a:xfrm>
            <a:off x="559219" y="1115844"/>
            <a:ext cx="7680960" cy="4631911"/>
          </a:xfrm>
        </p:spPr>
        <p:txBody>
          <a:bodyPr anchor="b">
            <a:normAutofit/>
          </a:bodyPr>
          <a:lstStyle/>
          <a:p>
            <a:r>
              <a:rPr lang="de-DE" sz="6500"/>
              <a:t>Challenges During Peak Seasons and Festivals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89536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38FB2DEB-F713-457B-F195-4CE235219DB8}"/>
              </a:ext>
            </a:extLst>
          </p:cNvPr>
          <p:cNvSpPr>
            <a:spLocks noGrp="1"/>
          </p:cNvSpPr>
          <p:nvPr>
            <p:ph type="title"/>
          </p:nvPr>
        </p:nvSpPr>
        <p:spPr>
          <a:xfrm>
            <a:off x="640080" y="914400"/>
            <a:ext cx="3412998" cy="1839433"/>
          </a:xfrm>
        </p:spPr>
        <p:txBody>
          <a:bodyPr>
            <a:normAutofit/>
          </a:bodyPr>
          <a:lstStyle/>
          <a:p>
            <a:pPr>
              <a:lnSpc>
                <a:spcPct val="90000"/>
              </a:lnSpc>
            </a:pPr>
            <a:r>
              <a:rPr lang="de-DE" sz="3100"/>
              <a:t>Increase in Transaction Volume and Complexity</a:t>
            </a:r>
          </a:p>
        </p:txBody>
      </p:sp>
      <p:graphicFrame>
        <p:nvGraphicFramePr>
          <p:cNvPr id="4" name="Content Placeholder 4">
            <a:extLst>
              <a:ext uri="{FF2B5EF4-FFF2-40B4-BE49-F238E27FC236}">
                <a16:creationId xmlns:a16="http://schemas.microsoft.com/office/drawing/2014/main" id="{54E53FB6-8451-49B9-9D8E-1D85DC54D2F5}"/>
              </a:ext>
            </a:extLst>
          </p:cNvPr>
          <p:cNvGraphicFramePr>
            <a:graphicFrameLocks noGrp="1"/>
          </p:cNvGraphicFramePr>
          <p:nvPr>
            <p:ph idx="1"/>
            <p:extLst>
              <p:ext uri="{D42A27DB-BD31-4B8C-83A1-F6EECF244321}">
                <p14:modId xmlns:p14="http://schemas.microsoft.com/office/powerpoint/2010/main" val="33596341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632670" y="1014984"/>
          <a:ext cx="7029274" cy="53146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048720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60E6C-C28F-EA4E-1142-9DD5560A06B7}"/>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500"/>
              <a:t>Strain on Manual Processes and Error Rates</a:t>
            </a:r>
          </a:p>
        </p:txBody>
      </p:sp>
      <p:pic>
        <p:nvPicPr>
          <p:cNvPr id="5" name="Content Placeholder 4" descr="Female boss reading sales report submitted by employee">
            <a:extLst>
              <a:ext uri="{FF2B5EF4-FFF2-40B4-BE49-F238E27FC236}">
                <a16:creationId xmlns:a16="http://schemas.microsoft.com/office/drawing/2014/main" id="{AED0F967-C182-4F72-AA27-4EF017715160}"/>
              </a:ext>
            </a:extLst>
          </p:cNvPr>
          <p:cNvPicPr>
            <a:picLocks noGrp="1" noChangeAspect="1"/>
          </p:cNvPicPr>
          <p:nvPr>
            <p:ph sz="half" idx="1"/>
          </p:nvPr>
        </p:nvPicPr>
        <p:blipFill>
          <a:blip r:embed="rId3"/>
          <a:srcRect l="890" r="16106"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8741B7C-BF45-F3ED-D78E-9C3FECF7510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Inadequate Manual Processes</a:t>
            </a:r>
          </a:p>
          <a:p>
            <a:pPr marL="0" lvl="1" indent="0">
              <a:buNone/>
            </a:pPr>
            <a:r>
              <a:rPr lang="en-US" sz="1400"/>
              <a:t>Manual handling struggles under high transaction volumes, reducing operational efficiency significantly.</a:t>
            </a:r>
          </a:p>
          <a:p>
            <a:pPr marL="0" indent="0">
              <a:spcBef>
                <a:spcPts val="2500"/>
              </a:spcBef>
              <a:buNone/>
            </a:pPr>
            <a:r>
              <a:rPr lang="en-US" sz="1400" b="1"/>
              <a:t>Increased Error Frequency</a:t>
            </a:r>
          </a:p>
          <a:p>
            <a:pPr marL="0" lvl="1" indent="0">
              <a:buNone/>
            </a:pPr>
            <a:r>
              <a:rPr lang="en-US" sz="1400"/>
              <a:t>Higher transaction loads lead to more frequent errors and mistakes in records and operations.</a:t>
            </a:r>
          </a:p>
          <a:p>
            <a:pPr marL="0" indent="0">
              <a:spcBef>
                <a:spcPts val="2500"/>
              </a:spcBef>
              <a:buNone/>
            </a:pPr>
            <a:r>
              <a:rPr lang="en-US" sz="1400" b="1"/>
              <a:t>Lost Records and Confusion</a:t>
            </a:r>
          </a:p>
          <a:p>
            <a:pPr marL="0" lvl="1" indent="0">
              <a:buNone/>
            </a:pPr>
            <a:r>
              <a:rPr lang="en-US" sz="1400"/>
              <a:t>Lost data and disorganized records cause confusion among market participants, disrupting workflows.</a:t>
            </a:r>
            <a:endParaRPr lang="de-DE" sz="1400"/>
          </a:p>
        </p:txBody>
      </p:sp>
    </p:spTree>
    <p:extLst>
      <p:ext uri="{BB962C8B-B14F-4D97-AF65-F5344CB8AC3E}">
        <p14:creationId xmlns:p14="http://schemas.microsoft.com/office/powerpoint/2010/main" val="42589427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465F6-EA68-9C85-1637-7E1E18C7E0D3}"/>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2800"/>
              <a:t>Specific Examples of Seasonal Payment and Record-Keeping Issues</a:t>
            </a:r>
          </a:p>
        </p:txBody>
      </p:sp>
      <p:sp>
        <p:nvSpPr>
          <p:cNvPr id="4" name="Content Placeholder 3">
            <a:extLst>
              <a:ext uri="{FF2B5EF4-FFF2-40B4-BE49-F238E27FC236}">
                <a16:creationId xmlns:a16="http://schemas.microsoft.com/office/drawing/2014/main" id="{501FE483-6089-6224-6FE3-F4593F986EF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Delayed Payments During Harvest</a:t>
            </a:r>
          </a:p>
          <a:p>
            <a:pPr marL="0" lvl="1" indent="0">
              <a:buNone/>
            </a:pPr>
            <a:r>
              <a:rPr lang="en-US" sz="1400"/>
              <a:t>Harvest festivals often cause delayed payments, disrupting farmers' cash flow and shop owners' business operations.</a:t>
            </a:r>
          </a:p>
          <a:p>
            <a:pPr marL="0" indent="0">
              <a:spcBef>
                <a:spcPts val="2500"/>
              </a:spcBef>
              <a:buNone/>
            </a:pPr>
            <a:r>
              <a:rPr lang="en-US" sz="1400" b="1"/>
              <a:t>Inaccurate Record-Keeping</a:t>
            </a:r>
          </a:p>
          <a:p>
            <a:pPr marL="0" lvl="1" indent="0">
              <a:buNone/>
            </a:pPr>
            <a:r>
              <a:rPr lang="en-US" sz="1400"/>
              <a:t>Errors in keeping financial records during peak seasons increase disputes and complicate settlements.</a:t>
            </a:r>
          </a:p>
          <a:p>
            <a:pPr marL="0" indent="0">
              <a:spcBef>
                <a:spcPts val="2500"/>
              </a:spcBef>
              <a:buNone/>
            </a:pPr>
            <a:r>
              <a:rPr lang="en-US" sz="1400" b="1"/>
              <a:t>Increased Credit Risks</a:t>
            </a:r>
          </a:p>
          <a:p>
            <a:pPr marL="0" lvl="1" indent="0">
              <a:buNone/>
            </a:pPr>
            <a:r>
              <a:rPr lang="en-US" sz="1400"/>
              <a:t>Payment delays and record inaccuracies raise credit risks, negatively affecting trust and operations.</a:t>
            </a:r>
            <a:endParaRPr lang="de-DE" sz="1400"/>
          </a:p>
        </p:txBody>
      </p:sp>
      <p:pic>
        <p:nvPicPr>
          <p:cNvPr id="5" name="Content Placeholder 4" descr="Waist up / one man only / one person of 20-29 years old adult handsome people caucasian male / young men farmer / farm worker standing wearing button down shirt / shirt / cap - hat / hat / baseball cap / jeans who is smiling / happy / cheerful and holding clipboard / document / paperwork / contract / to do list">
            <a:extLst>
              <a:ext uri="{FF2B5EF4-FFF2-40B4-BE49-F238E27FC236}">
                <a16:creationId xmlns:a16="http://schemas.microsoft.com/office/drawing/2014/main" id="{7F2CDBD9-FD9B-49DB-8F1B-69BC7C6B5BA9}"/>
              </a:ext>
            </a:extLst>
          </p:cNvPr>
          <p:cNvPicPr>
            <a:picLocks noGrp="1" noChangeAspect="1"/>
          </p:cNvPicPr>
          <p:nvPr>
            <p:ph sz="half" idx="1"/>
          </p:nvPr>
        </p:nvPicPr>
        <p:blipFill>
          <a:blip r:embed="rId3"/>
          <a:srcRect l="23301" r="21693"/>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07903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6983BF2-2FD4-49F8-4AFA-A66B5B6CF93B}"/>
              </a:ext>
            </a:extLst>
          </p:cNvPr>
          <p:cNvSpPr>
            <a:spLocks noGrp="1"/>
          </p:cNvSpPr>
          <p:nvPr>
            <p:ph type="ctrTitle"/>
          </p:nvPr>
        </p:nvSpPr>
        <p:spPr>
          <a:xfrm>
            <a:off x="559219" y="1115844"/>
            <a:ext cx="7680960" cy="4631911"/>
          </a:xfrm>
        </p:spPr>
        <p:txBody>
          <a:bodyPr anchor="b">
            <a:normAutofit/>
          </a:bodyPr>
          <a:lstStyle/>
          <a:p>
            <a:r>
              <a:rPr lang="de-DE" sz="6500"/>
              <a:t>How KisaanCenter Provides Solutions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6962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498C80-020F-D50D-5DFC-2954E0E21D15}"/>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Digital Record-Keeping for Accuracy and Transparency</a:t>
            </a:r>
          </a:p>
        </p:txBody>
      </p:sp>
      <p:pic>
        <p:nvPicPr>
          <p:cNvPr id="5" name="Content Placeholder 4" descr="Close up photo of a smartphone in hand with the open application for recognizing vegetables and fruit. An unrecognizable woman is scanning tomatoes on the market with the phone app, which shows the nutritional value, health benefits, and meal recipes.">
            <a:extLst>
              <a:ext uri="{FF2B5EF4-FFF2-40B4-BE49-F238E27FC236}">
                <a16:creationId xmlns:a16="http://schemas.microsoft.com/office/drawing/2014/main" id="{61C03429-2C74-4066-9193-D5E2FDC90180}"/>
              </a:ext>
            </a:extLst>
          </p:cNvPr>
          <p:cNvPicPr>
            <a:picLocks noGrp="1" noChangeAspect="1"/>
          </p:cNvPicPr>
          <p:nvPr>
            <p:ph sz="half" idx="1"/>
          </p:nvPr>
        </p:nvPicPr>
        <p:blipFill>
          <a:blip r:embed="rId3"/>
          <a:srcRect l="800" r="44134"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9F37A834-34FA-96B9-5DC8-674F131FB8C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Accurate Real-Time Data</a:t>
            </a:r>
          </a:p>
          <a:p>
            <a:pPr marL="0" lvl="1" indent="0">
              <a:buNone/>
            </a:pPr>
            <a:r>
              <a:rPr lang="en-US" sz="1400"/>
              <a:t>Digital record-keeping provides accurate and up-to-date information on transactions, improving decision-making.</a:t>
            </a:r>
          </a:p>
          <a:p>
            <a:pPr marL="0" indent="0">
              <a:spcBef>
                <a:spcPts val="2500"/>
              </a:spcBef>
              <a:buNone/>
            </a:pPr>
            <a:r>
              <a:rPr lang="en-US" sz="1400" b="1"/>
              <a:t>Error Reduction</a:t>
            </a:r>
          </a:p>
          <a:p>
            <a:pPr marL="0" lvl="1" indent="0">
              <a:buNone/>
            </a:pPr>
            <a:r>
              <a:rPr lang="en-US" sz="1400"/>
              <a:t>Digitizing records minimizes human errors, ensuring reliable and consistent data management.</a:t>
            </a:r>
          </a:p>
          <a:p>
            <a:pPr marL="0" indent="0">
              <a:spcBef>
                <a:spcPts val="2500"/>
              </a:spcBef>
              <a:buNone/>
            </a:pPr>
            <a:r>
              <a:rPr lang="en-US" sz="1400" b="1"/>
              <a:t>Fostering Trust</a:t>
            </a:r>
          </a:p>
          <a:p>
            <a:pPr marL="0" lvl="1" indent="0">
              <a:buNone/>
            </a:pPr>
            <a:r>
              <a:rPr lang="en-US" sz="1400"/>
              <a:t>Transparent digital records build trust among farmers, shop owners, and buyers through reliable transaction histories.</a:t>
            </a:r>
            <a:endParaRPr lang="de-DE" sz="1400"/>
          </a:p>
        </p:txBody>
      </p:sp>
    </p:spTree>
    <p:extLst>
      <p:ext uri="{BB962C8B-B14F-4D97-AF65-F5344CB8AC3E}">
        <p14:creationId xmlns:p14="http://schemas.microsoft.com/office/powerpoint/2010/main" val="20022082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C08377-9C0E-211A-CC57-69E2DC7601E1}"/>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Streamlined Payment Management and Tracking</a:t>
            </a:r>
          </a:p>
        </p:txBody>
      </p:sp>
      <p:pic>
        <p:nvPicPr>
          <p:cNvPr id="5" name="Content Placeholder 4" descr="E-banking online electronic banking mobile phone">
            <a:extLst>
              <a:ext uri="{FF2B5EF4-FFF2-40B4-BE49-F238E27FC236}">
                <a16:creationId xmlns:a16="http://schemas.microsoft.com/office/drawing/2014/main" id="{B3E37EAE-689B-4E89-B511-E79A15645430}"/>
              </a:ext>
            </a:extLst>
          </p:cNvPr>
          <p:cNvPicPr>
            <a:picLocks noGrp="1" noChangeAspect="1"/>
          </p:cNvPicPr>
          <p:nvPr>
            <p:ph sz="half" idx="1"/>
          </p:nvPr>
        </p:nvPicPr>
        <p:blipFill>
          <a:blip r:embed="rId3"/>
          <a:srcRect l="20069" r="24865"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3A406CF-4AC9-682D-EE0F-6C235F7D7B9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Timely Payment Facilitation</a:t>
            </a:r>
          </a:p>
          <a:p>
            <a:pPr marL="0" lvl="1" indent="0">
              <a:buNone/>
            </a:pPr>
            <a:r>
              <a:rPr lang="en-US" sz="1400"/>
              <a:t>The platform ensures payments are made on time, reducing financial delays and improving cash flow.</a:t>
            </a:r>
          </a:p>
          <a:p>
            <a:pPr marL="0" indent="0">
              <a:spcBef>
                <a:spcPts val="2500"/>
              </a:spcBef>
              <a:buNone/>
            </a:pPr>
            <a:r>
              <a:rPr lang="en-US" sz="1400" b="1"/>
              <a:t>Clear Payment Tracking</a:t>
            </a:r>
          </a:p>
          <a:p>
            <a:pPr marL="0" lvl="1" indent="0">
              <a:buNone/>
            </a:pPr>
            <a:r>
              <a:rPr lang="en-US" sz="1400"/>
              <a:t>Users can easily track payment statuses, enhancing transparency and accountability in transactions.</a:t>
            </a:r>
          </a:p>
          <a:p>
            <a:pPr marL="0" indent="0">
              <a:spcBef>
                <a:spcPts val="2500"/>
              </a:spcBef>
              <a:buNone/>
            </a:pPr>
            <a:r>
              <a:rPr lang="en-US" sz="1400" b="1"/>
              <a:t>Strengthening Business Relationships</a:t>
            </a:r>
          </a:p>
          <a:p>
            <a:pPr marL="0" lvl="1" indent="0">
              <a:buNone/>
            </a:pPr>
            <a:r>
              <a:rPr lang="en-US" sz="1400"/>
              <a:t>Reliable payment management fosters trust and strengthens partnerships between businesses.</a:t>
            </a:r>
            <a:endParaRPr lang="de-DE" sz="1400"/>
          </a:p>
        </p:txBody>
      </p:sp>
    </p:spTree>
    <p:extLst>
      <p:ext uri="{BB962C8B-B14F-4D97-AF65-F5344CB8AC3E}">
        <p14:creationId xmlns:p14="http://schemas.microsoft.com/office/powerpoint/2010/main" val="1148028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E8B094-F8ED-F918-B163-D63124ECE8E9}"/>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Tools for Managing Commissions, Credits, and Disputes</a:t>
            </a:r>
          </a:p>
        </p:txBody>
      </p:sp>
      <p:pic>
        <p:nvPicPr>
          <p:cNvPr id="5" name="Content Placeholder 4" descr="Touch screen interface">
            <a:extLst>
              <a:ext uri="{FF2B5EF4-FFF2-40B4-BE49-F238E27FC236}">
                <a16:creationId xmlns:a16="http://schemas.microsoft.com/office/drawing/2014/main" id="{70C875B2-A0C3-4F54-B9B1-71D480EDEF1A}"/>
              </a:ext>
            </a:extLst>
          </p:cNvPr>
          <p:cNvPicPr>
            <a:picLocks noGrp="1" noChangeAspect="1"/>
          </p:cNvPicPr>
          <p:nvPr>
            <p:ph sz="half" idx="1"/>
          </p:nvPr>
        </p:nvPicPr>
        <p:blipFill>
          <a:blip r:embed="rId3"/>
          <a:srcRect l="13573" r="31360"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7030548-0230-8099-5DD4-F5C82DFFE8D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Commission Calculation Tools</a:t>
            </a:r>
          </a:p>
          <a:p>
            <a:pPr marL="0" lvl="1" indent="0">
              <a:buNone/>
            </a:pPr>
            <a:r>
              <a:rPr lang="en-US" sz="1400"/>
              <a:t>KisaanCenter automates commission calculations to ensure accurate and timely payments, reducing manual errors.</a:t>
            </a:r>
          </a:p>
          <a:p>
            <a:pPr marL="0" indent="0">
              <a:spcBef>
                <a:spcPts val="2500"/>
              </a:spcBef>
              <a:buNone/>
            </a:pPr>
            <a:r>
              <a:rPr lang="en-US" sz="1400" b="1"/>
              <a:t>Credit Limit Management</a:t>
            </a:r>
          </a:p>
          <a:p>
            <a:pPr marL="0" lvl="1" indent="0">
              <a:buNone/>
            </a:pPr>
            <a:r>
              <a:rPr lang="en-US" sz="1400"/>
              <a:t>Tools to monitor and control credit limits help reduce financial risks and improve credit oversight.</a:t>
            </a:r>
          </a:p>
          <a:p>
            <a:pPr marL="0" indent="0">
              <a:spcBef>
                <a:spcPts val="2500"/>
              </a:spcBef>
              <a:buNone/>
            </a:pPr>
            <a:r>
              <a:rPr lang="en-US" sz="1400" b="1"/>
              <a:t>Dispute Resolution System</a:t>
            </a:r>
          </a:p>
          <a:p>
            <a:pPr marL="0" lvl="1" indent="0">
              <a:buNone/>
            </a:pPr>
            <a:r>
              <a:rPr lang="en-US" sz="1400"/>
              <a:t>Systematic dispute resolution tools streamline handling conflicts, accelerating problem-solving and operational flow.</a:t>
            </a:r>
            <a:endParaRPr lang="de-DE" sz="1400"/>
          </a:p>
        </p:txBody>
      </p:sp>
    </p:spTree>
    <p:extLst>
      <p:ext uri="{BB962C8B-B14F-4D97-AF65-F5344CB8AC3E}">
        <p14:creationId xmlns:p14="http://schemas.microsoft.com/office/powerpoint/2010/main" val="15370339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35B6F4D3-85DC-3D2A-91F3-BDD0320F3C71}"/>
              </a:ext>
            </a:extLst>
          </p:cNvPr>
          <p:cNvSpPr>
            <a:spLocks noGrp="1"/>
          </p:cNvSpPr>
          <p:nvPr>
            <p:ph type="title"/>
          </p:nvPr>
        </p:nvSpPr>
        <p:spPr>
          <a:xfrm>
            <a:off x="640079" y="1572768"/>
            <a:ext cx="8162176" cy="1406993"/>
          </a:xfrm>
        </p:spPr>
        <p:txBody>
          <a:bodyPr anchor="b">
            <a:normAutofit/>
          </a:bodyPr>
          <a:lstStyle/>
          <a:p>
            <a:r>
              <a:rPr lang="de-DE" sz="6000"/>
              <a:t>Conclusion</a:t>
            </a:r>
          </a:p>
        </p:txBody>
      </p:sp>
      <p:graphicFrame>
        <p:nvGraphicFramePr>
          <p:cNvPr id="11" name="Content Placeholder 2">
            <a:extLst>
              <a:ext uri="{FF2B5EF4-FFF2-40B4-BE49-F238E27FC236}">
                <a16:creationId xmlns:a16="http://schemas.microsoft.com/office/drawing/2014/main" id="{2020E69E-5653-CE13-56C8-0A9B935C6010}"/>
              </a:ext>
            </a:extLst>
          </p:cNvPr>
          <p:cNvGraphicFramePr>
            <a:graphicFrameLocks noGrp="1"/>
          </p:cNvGraphicFramePr>
          <p:nvPr>
            <p:ph idx="1"/>
            <p:extLst>
              <p:ext uri="{D42A27DB-BD31-4B8C-83A1-F6EECF244321}">
                <p14:modId xmlns:p14="http://schemas.microsoft.com/office/powerpoint/2010/main" val="1378928125"/>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F21FC8CC-145C-8745-889B-6521F9CCB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775200"/>
      </p:ext>
    </p:extLst>
  </p:cSld>
  <p:clrMapOvr>
    <a:masterClrMapping/>
  </p:clrMapOvr>
  <p:transition>
    <p:fade/>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2063</Words>
  <Application>Microsoft Office PowerPoint</Application>
  <PresentationFormat>Widescreen</PresentationFormat>
  <Paragraphs>167</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Bierstadt</vt:lpstr>
      <vt:lpstr>Grandview Display</vt:lpstr>
      <vt:lpstr>DashVTI</vt:lpstr>
      <vt:lpstr>KisaanCenter: Addressing Real-World Market Challenges in India’s Agricultural Ecosystem</vt:lpstr>
      <vt:lpstr>How KisaanCenter Works</vt:lpstr>
      <vt:lpstr>Why Choose KisaanCenter?</vt:lpstr>
      <vt:lpstr>Empowering Farmers Digitally</vt:lpstr>
      <vt:lpstr>Today's Discussion Points</vt:lpstr>
      <vt:lpstr>Understanding the Traditional Market Payment System</vt:lpstr>
      <vt:lpstr>How Transactions Flow Between Farmers, Shop Owners, and Buyers</vt:lpstr>
      <vt:lpstr>Role of Commissions and Payment Delays</vt:lpstr>
      <vt:lpstr>Impact on Cash Flow and Business Relationships</vt:lpstr>
      <vt:lpstr>Key Pain Points Faced by Market Participants</vt:lpstr>
      <vt:lpstr>Manual Record-Keeping: Limitations and Risks</vt:lpstr>
      <vt:lpstr>Delayed and Fragmented Payments: Effects on Farmers and Shop Owners</vt:lpstr>
      <vt:lpstr>Disputes, Errors, and Credit Risks in Daily Operations</vt:lpstr>
      <vt:lpstr>Challenges During Peak Seasons and Festivals</vt:lpstr>
      <vt:lpstr>Increase in Transaction Volume and Complexity</vt:lpstr>
      <vt:lpstr>Strain on Manual Processes and Error Rates</vt:lpstr>
      <vt:lpstr>Specific Examples of Seasonal Payment and Record-Keeping Issues</vt:lpstr>
      <vt:lpstr>How KisaanCenter Provides Solutions</vt:lpstr>
      <vt:lpstr>Digital Record-Keeping for Accuracy and Transparency</vt:lpstr>
      <vt:lpstr>Streamlined Payment Management and Tracking</vt:lpstr>
      <vt:lpstr>Tools for Managing Commissions, Credits, and Disputes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Kowdampalli, Ramakanth Reddy</dc:creator>
  <cp:lastModifiedBy>Kowdampalli, Ramakanth Reddy</cp:lastModifiedBy>
  <cp:revision>1</cp:revision>
  <dcterms:created xsi:type="dcterms:W3CDTF">2025-08-25T12:46:26Z</dcterms:created>
  <dcterms:modified xsi:type="dcterms:W3CDTF">2025-08-25T12:54:08Z</dcterms:modified>
</cp:coreProperties>
</file>